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65" r:id="rId5"/>
    <p:sldId id="259" r:id="rId6"/>
    <p:sldId id="266" r:id="rId7"/>
    <p:sldId id="267" r:id="rId8"/>
    <p:sldId id="261" r:id="rId9"/>
    <p:sldId id="268" r:id="rId10"/>
    <p:sldId id="263" r:id="rId11"/>
    <p:sldId id="271" r:id="rId12"/>
    <p:sldId id="272" r:id="rId13"/>
    <p:sldId id="273" r:id="rId14"/>
    <p:sldId id="275" r:id="rId15"/>
    <p:sldId id="274" r:id="rId16"/>
    <p:sldId id="279" r:id="rId17"/>
    <p:sldId id="280" r:id="rId18"/>
    <p:sldId id="281" r:id="rId19"/>
    <p:sldId id="282" r:id="rId20"/>
    <p:sldId id="283" r:id="rId21"/>
    <p:sldId id="284" r:id="rId22"/>
    <p:sldId id="278" r:id="rId23"/>
    <p:sldId id="277" r:id="rId24"/>
    <p:sldId id="264" r:id="rId25"/>
    <p:sldId id="276" r:id="rId26"/>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69" autoAdjust="0"/>
    <p:restoredTop sz="89150" autoAdjust="0"/>
  </p:normalViewPr>
  <p:slideViewPr>
    <p:cSldViewPr snapToGrid="0" snapToObjects="1">
      <p:cViewPr varScale="1">
        <p:scale>
          <a:sx n="61" d="100"/>
          <a:sy n="61" d="100"/>
        </p:scale>
        <p:origin x="75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4678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26.sv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6" name="Image 0" descr="preencoded.png">
            <a:extLst>
              <a:ext uri="{FF2B5EF4-FFF2-40B4-BE49-F238E27FC236}">
                <a16:creationId xmlns:a16="http://schemas.microsoft.com/office/drawing/2014/main" id="{87ED7675-3130-64AE-2133-580EFEFB6182}"/>
              </a:ext>
            </a:extLst>
          </p:cNvPr>
          <p:cNvPicPr>
            <a:picLocks noChangeAspect="1"/>
          </p:cNvPicPr>
          <p:nvPr/>
        </p:nvPicPr>
        <p:blipFill>
          <a:blip r:embed="rId3"/>
          <a:stretch>
            <a:fillRect/>
          </a:stretch>
        </p:blipFill>
        <p:spPr>
          <a:xfrm>
            <a:off x="0" y="0"/>
            <a:ext cx="5486400" cy="8229600"/>
          </a:xfrm>
          <a:prstGeom prst="rect">
            <a:avLst/>
          </a:prstGeom>
        </p:spPr>
      </p:pic>
      <p:grpSp>
        <p:nvGrpSpPr>
          <p:cNvPr id="13" name="Group 12">
            <a:extLst>
              <a:ext uri="{FF2B5EF4-FFF2-40B4-BE49-F238E27FC236}">
                <a16:creationId xmlns:a16="http://schemas.microsoft.com/office/drawing/2014/main" id="{0D1F5E17-6E67-5506-8958-8B557617B0B3}"/>
              </a:ext>
            </a:extLst>
          </p:cNvPr>
          <p:cNvGrpSpPr/>
          <p:nvPr/>
        </p:nvGrpSpPr>
        <p:grpSpPr>
          <a:xfrm>
            <a:off x="6055114" y="1780996"/>
            <a:ext cx="8261472" cy="2014924"/>
            <a:chOff x="6055114" y="2006264"/>
            <a:chExt cx="8261472" cy="2014924"/>
          </a:xfrm>
        </p:grpSpPr>
        <p:sp>
          <p:nvSpPr>
            <p:cNvPr id="7" name="Text 0">
              <a:extLst>
                <a:ext uri="{FF2B5EF4-FFF2-40B4-BE49-F238E27FC236}">
                  <a16:creationId xmlns:a16="http://schemas.microsoft.com/office/drawing/2014/main" id="{EB6A29A1-54C7-131A-0BFD-D9B5D5E57F92}"/>
                </a:ext>
              </a:extLst>
            </p:cNvPr>
            <p:cNvSpPr/>
            <p:nvPr/>
          </p:nvSpPr>
          <p:spPr>
            <a:xfrm>
              <a:off x="6055114" y="2006264"/>
              <a:ext cx="8261472" cy="1611775"/>
            </a:xfrm>
            <a:prstGeom prst="rect">
              <a:avLst/>
            </a:prstGeom>
            <a:noFill/>
            <a:ln/>
          </p:spPr>
          <p:txBody>
            <a:bodyPr wrap="square" lIns="0" tIns="0" rIns="0" bIns="0" rtlCol="0" anchor="t"/>
            <a:lstStyle/>
            <a:p>
              <a:pPr marL="0" indent="0" algn="ctr">
                <a:buNone/>
              </a:pPr>
              <a:r>
                <a:rPr lang="en-US" sz="3200" b="1" dirty="0">
                  <a:solidFill>
                    <a:srgbClr val="FF0000"/>
                  </a:solidFill>
                  <a:latin typeface="Sitka Small" pitchFamily="2" charset="0"/>
                  <a:ea typeface="Spline Sans Bold" pitchFamily="34" charset="-122"/>
                  <a:cs typeface="Spline Sans Bold" pitchFamily="34" charset="-120"/>
                </a:rPr>
                <a:t>Course Project:</a:t>
              </a:r>
            </a:p>
            <a:p>
              <a:pPr marL="0" indent="0" algn="ctr">
                <a:buNone/>
              </a:pPr>
              <a:r>
                <a:rPr lang="en-US" sz="3200" dirty="0">
                  <a:solidFill>
                    <a:srgbClr val="1B1B27"/>
                  </a:solidFill>
                  <a:latin typeface="Georgia" panose="02040502050405020303" pitchFamily="18" charset="0"/>
                </a:rPr>
                <a:t>Climate Change Impact Analyzer on Crop Yield Patterns</a:t>
              </a:r>
            </a:p>
          </p:txBody>
        </p:sp>
        <p:sp>
          <p:nvSpPr>
            <p:cNvPr id="8" name="Text 1">
              <a:extLst>
                <a:ext uri="{FF2B5EF4-FFF2-40B4-BE49-F238E27FC236}">
                  <a16:creationId xmlns:a16="http://schemas.microsoft.com/office/drawing/2014/main" id="{1D5A7C6A-A3DE-FD22-0DB9-6FB8A86CDCD0}"/>
                </a:ext>
              </a:extLst>
            </p:cNvPr>
            <p:cNvSpPr/>
            <p:nvPr/>
          </p:nvSpPr>
          <p:spPr>
            <a:xfrm>
              <a:off x="6579827" y="3626139"/>
              <a:ext cx="7415927" cy="395049"/>
            </a:xfrm>
            <a:prstGeom prst="rect">
              <a:avLst/>
            </a:prstGeom>
            <a:noFill/>
            <a:ln/>
          </p:spPr>
          <p:txBody>
            <a:bodyPr wrap="none" lIns="0" tIns="0" rIns="0" bIns="0" rtlCol="0" anchor="t"/>
            <a:lstStyle/>
            <a:p>
              <a:pPr marL="0" indent="0" algn="l">
                <a:lnSpc>
                  <a:spcPts val="3100"/>
                </a:lnSpc>
                <a:buNone/>
              </a:pPr>
              <a:r>
                <a:rPr lang="en-US" sz="2400" dirty="0">
                  <a:solidFill>
                    <a:srgbClr val="002060"/>
                  </a:solidFill>
                  <a:latin typeface="Copperplate Gothic Bold" panose="020E0705020206020404" pitchFamily="34" charset="0"/>
                  <a:ea typeface="Barlow" pitchFamily="34" charset="-122"/>
                  <a:cs typeface="Barlow" pitchFamily="34" charset="-120"/>
                </a:rPr>
                <a:t>Big Data Analytics </a:t>
              </a:r>
              <a:endParaRPr lang="en-US" sz="2400" dirty="0">
                <a:solidFill>
                  <a:srgbClr val="002060"/>
                </a:solidFill>
                <a:latin typeface="Copperplate Gothic Bold" panose="020E0705020206020404" pitchFamily="34" charset="0"/>
              </a:endParaRPr>
            </a:p>
          </p:txBody>
        </p:sp>
      </p:grpSp>
      <p:pic>
        <p:nvPicPr>
          <p:cNvPr id="9" name="Picture 8">
            <a:extLst>
              <a:ext uri="{FF2B5EF4-FFF2-40B4-BE49-F238E27FC236}">
                <a16:creationId xmlns:a16="http://schemas.microsoft.com/office/drawing/2014/main" id="{532CA63F-2002-A2C5-BE1E-717BCB9CE315}"/>
              </a:ext>
            </a:extLst>
          </p:cNvPr>
          <p:cNvPicPr>
            <a:picLocks noChangeAspect="1"/>
          </p:cNvPicPr>
          <p:nvPr/>
        </p:nvPicPr>
        <p:blipFill>
          <a:blip r:embed="rId4"/>
          <a:stretch>
            <a:fillRect/>
          </a:stretch>
        </p:blipFill>
        <p:spPr>
          <a:xfrm>
            <a:off x="6055114" y="243464"/>
            <a:ext cx="1773044" cy="1452911"/>
          </a:xfrm>
          <a:prstGeom prst="rect">
            <a:avLst/>
          </a:prstGeom>
        </p:spPr>
      </p:pic>
      <p:graphicFrame>
        <p:nvGraphicFramePr>
          <p:cNvPr id="10" name="Table 9">
            <a:extLst>
              <a:ext uri="{FF2B5EF4-FFF2-40B4-BE49-F238E27FC236}">
                <a16:creationId xmlns:a16="http://schemas.microsoft.com/office/drawing/2014/main" id="{471CA6FF-30CC-1170-5517-FB7ED27F2001}"/>
              </a:ext>
            </a:extLst>
          </p:cNvPr>
          <p:cNvGraphicFramePr>
            <a:graphicFrameLocks noGrp="1"/>
          </p:cNvGraphicFramePr>
          <p:nvPr>
            <p:extLst>
              <p:ext uri="{D42A27DB-BD31-4B8C-83A1-F6EECF244321}">
                <p14:modId xmlns:p14="http://schemas.microsoft.com/office/powerpoint/2010/main" val="2856634401"/>
              </p:ext>
            </p:extLst>
          </p:nvPr>
        </p:nvGraphicFramePr>
        <p:xfrm>
          <a:off x="7483102" y="7106369"/>
          <a:ext cx="5374251" cy="370840"/>
        </p:xfrm>
        <a:graphic>
          <a:graphicData uri="http://schemas.openxmlformats.org/drawingml/2006/table">
            <a:tbl>
              <a:tblPr firstRow="1" bandRow="1">
                <a:tableStyleId>{BC89EF96-8CEA-46FF-86C4-4CE0E7609802}</a:tableStyleId>
              </a:tblPr>
              <a:tblGrid>
                <a:gridCol w="5374251">
                  <a:extLst>
                    <a:ext uri="{9D8B030D-6E8A-4147-A177-3AD203B41FA5}">
                      <a16:colId xmlns:a16="http://schemas.microsoft.com/office/drawing/2014/main" val="20000"/>
                    </a:ext>
                  </a:extLst>
                </a:gridCol>
              </a:tblGrid>
              <a:tr h="370840">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dirty="0">
                          <a:solidFill>
                            <a:srgbClr val="C00000"/>
                          </a:solidFill>
                        </a:rPr>
                        <a:t>Subject Teacher :  </a:t>
                      </a:r>
                      <a:r>
                        <a:rPr lang="en-IN" dirty="0">
                          <a:solidFill>
                            <a:srgbClr val="002060"/>
                          </a:solidFill>
                        </a:rPr>
                        <a:t>Ms. Madhura Sanap</a:t>
                      </a:r>
                    </a:p>
                  </a:txBody>
                  <a:tcPr/>
                </a:tc>
                <a:extLst>
                  <a:ext uri="{0D108BD9-81ED-4DB2-BD59-A6C34878D82A}">
                    <a16:rowId xmlns:a16="http://schemas.microsoft.com/office/drawing/2014/main" val="10000"/>
                  </a:ext>
                </a:extLst>
              </a:tr>
            </a:tbl>
          </a:graphicData>
        </a:graphic>
      </p:graphicFrame>
      <p:graphicFrame>
        <p:nvGraphicFramePr>
          <p:cNvPr id="11" name="Table 10">
            <a:extLst>
              <a:ext uri="{FF2B5EF4-FFF2-40B4-BE49-F238E27FC236}">
                <a16:creationId xmlns:a16="http://schemas.microsoft.com/office/drawing/2014/main" id="{DA6D7E45-5B4E-F9DC-D2AC-1DDE5460C16A}"/>
              </a:ext>
            </a:extLst>
          </p:cNvPr>
          <p:cNvGraphicFramePr>
            <a:graphicFrameLocks noGrp="1"/>
          </p:cNvGraphicFramePr>
          <p:nvPr>
            <p:extLst>
              <p:ext uri="{D42A27DB-BD31-4B8C-83A1-F6EECF244321}">
                <p14:modId xmlns:p14="http://schemas.microsoft.com/office/powerpoint/2010/main" val="863482352"/>
              </p:ext>
            </p:extLst>
          </p:nvPr>
        </p:nvGraphicFramePr>
        <p:xfrm>
          <a:off x="7483103" y="4449876"/>
          <a:ext cx="5374252" cy="2648393"/>
        </p:xfrm>
        <a:graphic>
          <a:graphicData uri="http://schemas.openxmlformats.org/drawingml/2006/table">
            <a:tbl>
              <a:tblPr firstRow="1" bandRow="1">
                <a:tableStyleId>{69CF1AB2-1976-4502-BF36-3FF5EA218861}</a:tableStyleId>
              </a:tblPr>
              <a:tblGrid>
                <a:gridCol w="2687126">
                  <a:extLst>
                    <a:ext uri="{9D8B030D-6E8A-4147-A177-3AD203B41FA5}">
                      <a16:colId xmlns:a16="http://schemas.microsoft.com/office/drawing/2014/main" val="20000"/>
                    </a:ext>
                  </a:extLst>
                </a:gridCol>
                <a:gridCol w="2687126">
                  <a:extLst>
                    <a:ext uri="{9D8B030D-6E8A-4147-A177-3AD203B41FA5}">
                      <a16:colId xmlns:a16="http://schemas.microsoft.com/office/drawing/2014/main" val="20001"/>
                    </a:ext>
                  </a:extLst>
                </a:gridCol>
              </a:tblGrid>
              <a:tr h="515281">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b="1" dirty="0">
                          <a:solidFill>
                            <a:srgbClr val="C00000"/>
                          </a:solidFill>
                        </a:rPr>
                        <a:t>Name</a:t>
                      </a:r>
                    </a:p>
                  </a:txBody>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b="1" dirty="0">
                          <a:solidFill>
                            <a:srgbClr val="C00000"/>
                          </a:solidFill>
                        </a:rPr>
                        <a:t>Roll No.</a:t>
                      </a:r>
                    </a:p>
                  </a:txBody>
                  <a:tcPr/>
                </a:tc>
                <a:extLst>
                  <a:ext uri="{0D108BD9-81ED-4DB2-BD59-A6C34878D82A}">
                    <a16:rowId xmlns:a16="http://schemas.microsoft.com/office/drawing/2014/main" val="10000"/>
                  </a:ext>
                </a:extLst>
              </a:tr>
              <a:tr h="533278">
                <a:tc>
                  <a:txBody>
                    <a:bodyPr/>
                    <a:lstStyle/>
                    <a:p>
                      <a:pPr algn="ctr"/>
                      <a:r>
                        <a:rPr lang="en-IN" sz="1800" b="1" kern="1200" dirty="0">
                          <a:solidFill>
                            <a:schemeClr val="tx1"/>
                          </a:solidFill>
                        </a:rPr>
                        <a:t>Aditi Avhad</a:t>
                      </a:r>
                      <a:endParaRPr lang="en-IN" sz="1800" b="1" kern="1200" dirty="0">
                        <a:solidFill>
                          <a:schemeClr val="tx1"/>
                        </a:solidFill>
                        <a:latin typeface="+mn-lt"/>
                        <a:ea typeface="+mn-ea"/>
                        <a:cs typeface="+mn-cs"/>
                      </a:endParaRPr>
                    </a:p>
                  </a:txBody>
                  <a:tcPr/>
                </a:tc>
                <a:tc>
                  <a:txBody>
                    <a:bodyPr/>
                    <a:lstStyle/>
                    <a:p>
                      <a:pPr algn="ctr"/>
                      <a:r>
                        <a:rPr lang="en-IN" sz="1800" b="1" kern="1200" dirty="0">
                          <a:solidFill>
                            <a:schemeClr val="tx1"/>
                          </a:solidFill>
                        </a:rPr>
                        <a:t>76</a:t>
                      </a:r>
                      <a:endParaRPr lang="en-IN" sz="1800" b="1" kern="1200" dirty="0">
                        <a:solidFill>
                          <a:schemeClr val="tx1"/>
                        </a:solidFill>
                        <a:latin typeface="+mn-lt"/>
                        <a:ea typeface="+mn-ea"/>
                        <a:cs typeface="+mn-cs"/>
                      </a:endParaRPr>
                    </a:p>
                  </a:txBody>
                  <a:tcPr/>
                </a:tc>
                <a:extLst>
                  <a:ext uri="{0D108BD9-81ED-4DB2-BD59-A6C34878D82A}">
                    <a16:rowId xmlns:a16="http://schemas.microsoft.com/office/drawing/2014/main" val="3933447515"/>
                  </a:ext>
                </a:extLst>
              </a:tr>
              <a:tr h="533278">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b="1" dirty="0">
                          <a:solidFill>
                            <a:schemeClr val="tx1"/>
                          </a:solidFill>
                        </a:rPr>
                        <a:t>Pranusha Birhade</a:t>
                      </a:r>
                    </a:p>
                  </a:txBody>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b="1" dirty="0">
                          <a:solidFill>
                            <a:schemeClr val="tx1"/>
                          </a:solidFill>
                        </a:rPr>
                        <a:t>72</a:t>
                      </a:r>
                    </a:p>
                  </a:txBody>
                  <a:tcPr/>
                </a:tc>
                <a:extLst>
                  <a:ext uri="{0D108BD9-81ED-4DB2-BD59-A6C34878D82A}">
                    <a16:rowId xmlns:a16="http://schemas.microsoft.com/office/drawing/2014/main" val="10001"/>
                  </a:ext>
                </a:extLst>
              </a:tr>
              <a:tr h="533278">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b="1" dirty="0">
                          <a:solidFill>
                            <a:schemeClr val="tx1"/>
                          </a:solidFill>
                        </a:rPr>
                        <a:t>Dharati Biradar</a:t>
                      </a:r>
                    </a:p>
                  </a:txBody>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b="1" dirty="0">
                          <a:solidFill>
                            <a:schemeClr val="tx1"/>
                          </a:solidFill>
                        </a:rPr>
                        <a:t>78</a:t>
                      </a:r>
                    </a:p>
                  </a:txBody>
                  <a:tcPr/>
                </a:tc>
                <a:extLst>
                  <a:ext uri="{0D108BD9-81ED-4DB2-BD59-A6C34878D82A}">
                    <a16:rowId xmlns:a16="http://schemas.microsoft.com/office/drawing/2014/main" val="10002"/>
                  </a:ext>
                </a:extLst>
              </a:tr>
              <a:tr h="533278">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b="1" dirty="0">
                          <a:solidFill>
                            <a:schemeClr val="tx1"/>
                          </a:solidFill>
                        </a:rPr>
                        <a:t>Soham Deokar</a:t>
                      </a:r>
                    </a:p>
                  </a:txBody>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b="1" dirty="0">
                          <a:solidFill>
                            <a:schemeClr val="tx1"/>
                          </a:solidFill>
                        </a:rPr>
                        <a:t>75</a:t>
                      </a:r>
                    </a:p>
                  </a:txBody>
                  <a:tcPr/>
                </a:tc>
                <a:extLst>
                  <a:ext uri="{0D108BD9-81ED-4DB2-BD59-A6C34878D82A}">
                    <a16:rowId xmlns:a16="http://schemas.microsoft.com/office/drawing/2014/main" val="10003"/>
                  </a:ext>
                </a:extLst>
              </a:tr>
            </a:tbl>
          </a:graphicData>
        </a:graphic>
      </p:graphicFrame>
      <p:graphicFrame>
        <p:nvGraphicFramePr>
          <p:cNvPr id="15" name="Table 14">
            <a:extLst>
              <a:ext uri="{FF2B5EF4-FFF2-40B4-BE49-F238E27FC236}">
                <a16:creationId xmlns:a16="http://schemas.microsoft.com/office/drawing/2014/main" id="{83AC330F-921C-4F37-6DA6-EC10E6AECE62}"/>
              </a:ext>
            </a:extLst>
          </p:cNvPr>
          <p:cNvGraphicFramePr>
            <a:graphicFrameLocks noGrp="1"/>
          </p:cNvGraphicFramePr>
          <p:nvPr>
            <p:extLst>
              <p:ext uri="{D42A27DB-BD31-4B8C-83A1-F6EECF244321}">
                <p14:modId xmlns:p14="http://schemas.microsoft.com/office/powerpoint/2010/main" val="1610003918"/>
              </p:ext>
            </p:extLst>
          </p:nvPr>
        </p:nvGraphicFramePr>
        <p:xfrm>
          <a:off x="7483101" y="4070936"/>
          <a:ext cx="5374251" cy="370840"/>
        </p:xfrm>
        <a:graphic>
          <a:graphicData uri="http://schemas.openxmlformats.org/drawingml/2006/table">
            <a:tbl>
              <a:tblPr firstRow="1" bandRow="1">
                <a:tableStyleId>{BC89EF96-8CEA-46FF-86C4-4CE0E7609802}</a:tableStyleId>
              </a:tblPr>
              <a:tblGrid>
                <a:gridCol w="5374251">
                  <a:extLst>
                    <a:ext uri="{9D8B030D-6E8A-4147-A177-3AD203B41FA5}">
                      <a16:colId xmlns:a16="http://schemas.microsoft.com/office/drawing/2014/main" val="20000"/>
                    </a:ext>
                  </a:extLst>
                </a:gridCol>
              </a:tblGrid>
              <a:tr h="370840">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b="1" dirty="0">
                          <a:solidFill>
                            <a:srgbClr val="C00000"/>
                          </a:solidFill>
                        </a:rPr>
                        <a:t>Dept : </a:t>
                      </a:r>
                      <a:r>
                        <a:rPr lang="en-IN" b="1" dirty="0"/>
                        <a:t>Computer Engineering(Software Engineering)</a:t>
                      </a:r>
                    </a:p>
                  </a:txBody>
                  <a:tcPr/>
                </a:tc>
                <a:extLst>
                  <a:ext uri="{0D108BD9-81ED-4DB2-BD59-A6C34878D82A}">
                    <a16:rowId xmlns:a16="http://schemas.microsoft.com/office/drawing/2014/main" val="10000"/>
                  </a:ext>
                </a:extLst>
              </a:tr>
            </a:tbl>
          </a:graphicData>
        </a:graphic>
      </p:graphicFrame>
      <p:sp>
        <p:nvSpPr>
          <p:cNvPr id="17" name="TextBox 16">
            <a:extLst>
              <a:ext uri="{FF2B5EF4-FFF2-40B4-BE49-F238E27FC236}">
                <a16:creationId xmlns:a16="http://schemas.microsoft.com/office/drawing/2014/main" id="{A515A8A9-84FF-3796-9874-37B0A0AB36D9}"/>
              </a:ext>
            </a:extLst>
          </p:cNvPr>
          <p:cNvSpPr txBox="1"/>
          <p:nvPr/>
        </p:nvSpPr>
        <p:spPr>
          <a:xfrm>
            <a:off x="12283068" y="90422"/>
            <a:ext cx="2843561" cy="338554"/>
          </a:xfrm>
          <a:prstGeom prst="rect">
            <a:avLst/>
          </a:prstGeom>
          <a:noFill/>
        </p:spPr>
        <p:txBody>
          <a:bodyPr wrap="square" rtlCol="0">
            <a:spAutoFit/>
          </a:bodyPr>
          <a:lstStyle/>
          <a:p>
            <a:r>
              <a:rPr lang="en-IN" sz="1600" b="1" dirty="0">
                <a:solidFill>
                  <a:srgbClr val="002060"/>
                </a:solidFill>
              </a:rPr>
              <a:t>Academic Year : 2025-26</a:t>
            </a:r>
          </a:p>
        </p:txBody>
      </p:sp>
      <p:sp>
        <p:nvSpPr>
          <p:cNvPr id="18" name="Rectangle 17">
            <a:extLst>
              <a:ext uri="{FF2B5EF4-FFF2-40B4-BE49-F238E27FC236}">
                <a16:creationId xmlns:a16="http://schemas.microsoft.com/office/drawing/2014/main" id="{554B8D86-A455-6BF1-57A6-1E8B8E95107A}"/>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44C5CB58-01DC-D020-DA65-00C0302C56C5}"/>
              </a:ext>
            </a:extLst>
          </p:cNvPr>
          <p:cNvSpPr txBox="1"/>
          <p:nvPr/>
        </p:nvSpPr>
        <p:spPr>
          <a:xfrm>
            <a:off x="7828158" y="1080805"/>
            <a:ext cx="5531005" cy="369332"/>
          </a:xfrm>
          <a:prstGeom prst="rect">
            <a:avLst/>
          </a:prstGeom>
          <a:noFill/>
        </p:spPr>
        <p:txBody>
          <a:bodyPr wrap="square" rtlCol="0">
            <a:spAutoFit/>
          </a:bodyPr>
          <a:lstStyle/>
          <a:p>
            <a:r>
              <a:rPr lang="en-IN" b="1" dirty="0">
                <a:solidFill>
                  <a:schemeClr val="accent1"/>
                </a:solidFill>
                <a:latin typeface="Georgia" panose="02040502050405020303" pitchFamily="18" charset="0"/>
              </a:rPr>
              <a:t>Vishwakarma Institute of Technology, Pune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E36EB465-E548-A502-6106-A5CF5DB740E6}"/>
              </a:ext>
            </a:extLst>
          </p:cNvPr>
          <p:cNvSpPr txBox="1"/>
          <p:nvPr/>
        </p:nvSpPr>
        <p:spPr>
          <a:xfrm>
            <a:off x="4923263" y="688821"/>
            <a:ext cx="7733371" cy="830997"/>
          </a:xfrm>
          <a:prstGeom prst="rect">
            <a:avLst/>
          </a:prstGeom>
          <a:noFill/>
        </p:spPr>
        <p:txBody>
          <a:bodyPr wrap="square" rtlCol="0">
            <a:spAutoFit/>
          </a:bodyPr>
          <a:lstStyle/>
          <a:p>
            <a:r>
              <a:rPr lang="en-IN" sz="4800" b="1" dirty="0">
                <a:solidFill>
                  <a:srgbClr val="FF0000"/>
                </a:solidFill>
                <a:latin typeface="Corben" pitchFamily="34" charset="0"/>
              </a:rPr>
              <a:t>INTRODUCTION</a:t>
            </a:r>
          </a:p>
        </p:txBody>
      </p:sp>
      <p:sp>
        <p:nvSpPr>
          <p:cNvPr id="29" name="TextBox 28">
            <a:extLst>
              <a:ext uri="{FF2B5EF4-FFF2-40B4-BE49-F238E27FC236}">
                <a16:creationId xmlns:a16="http://schemas.microsoft.com/office/drawing/2014/main" id="{8731B840-5739-D17F-C656-71D763E32F87}"/>
              </a:ext>
            </a:extLst>
          </p:cNvPr>
          <p:cNvSpPr txBox="1"/>
          <p:nvPr/>
        </p:nvSpPr>
        <p:spPr>
          <a:xfrm>
            <a:off x="1248937" y="1599385"/>
            <a:ext cx="11831443" cy="1270989"/>
          </a:xfrm>
          <a:prstGeom prst="rect">
            <a:avLst/>
          </a:prstGeom>
          <a:noFill/>
        </p:spPr>
        <p:txBody>
          <a:bodyPr wrap="square">
            <a:spAutoFit/>
          </a:bodyPr>
          <a:lstStyle/>
          <a:p>
            <a:pPr algn="just">
              <a:lnSpc>
                <a:spcPct val="150000"/>
              </a:lnSpc>
            </a:pPr>
            <a:r>
              <a:rPr lang="en-US" sz="1750" dirty="0">
                <a:latin typeface="Barlow" pitchFamily="34" charset="0"/>
              </a:rPr>
              <a:t>This project analyzes climate and crop data to understand how  and rainfall affect crop yield. Past data is studied to find Calibri and trends using charts and graphs. Simple data analysis tools are used to convert raw data into useful insights. The results help farmers, students, and decision makers understand the impact of climate change on agriculture</a:t>
            </a:r>
            <a:r>
              <a:rPr lang="en-US" dirty="0"/>
              <a:t>.</a:t>
            </a:r>
            <a:endParaRPr lang="en-IN" dirty="0">
              <a:latin typeface="Cambria" panose="02040503050406030204" pitchFamily="18" charset="0"/>
              <a:ea typeface="Cambria" panose="02040503050406030204" pitchFamily="18" charset="0"/>
            </a:endParaRPr>
          </a:p>
        </p:txBody>
      </p:sp>
      <p:sp>
        <p:nvSpPr>
          <p:cNvPr id="30" name="TextBox 29">
            <a:extLst>
              <a:ext uri="{FF2B5EF4-FFF2-40B4-BE49-F238E27FC236}">
                <a16:creationId xmlns:a16="http://schemas.microsoft.com/office/drawing/2014/main" id="{3102ABA7-08BA-8E00-878D-9C8CCE77F035}"/>
              </a:ext>
            </a:extLst>
          </p:cNvPr>
          <p:cNvSpPr txBox="1"/>
          <p:nvPr/>
        </p:nvSpPr>
        <p:spPr>
          <a:xfrm>
            <a:off x="1248937" y="2931937"/>
            <a:ext cx="5720575" cy="3972882"/>
          </a:xfrm>
          <a:prstGeom prst="rect">
            <a:avLst/>
          </a:prstGeom>
          <a:noFill/>
        </p:spPr>
        <p:txBody>
          <a:bodyPr wrap="square">
            <a:spAutoFit/>
          </a:bodyPr>
          <a:lstStyle/>
          <a:p>
            <a:pPr>
              <a:lnSpc>
                <a:spcPct val="200000"/>
              </a:lnSpc>
            </a:pPr>
            <a:r>
              <a:rPr lang="en-US" sz="2400" b="1" dirty="0">
                <a:solidFill>
                  <a:srgbClr val="0070C0"/>
                </a:solidFill>
                <a:ea typeface="Spline Sans Bold" pitchFamily="34" charset="-122"/>
              </a:rPr>
              <a:t>Why This Project Is Needed</a:t>
            </a:r>
          </a:p>
          <a:p>
            <a:pPr marL="285750" indent="-285750">
              <a:lnSpc>
                <a:spcPct val="200000"/>
              </a:lnSpc>
              <a:buFont typeface="Arial" panose="020B0604020202020204" pitchFamily="34" charset="0"/>
              <a:buChar char="•"/>
            </a:pPr>
            <a:r>
              <a:rPr lang="en-US" sz="1750" dirty="0">
                <a:solidFill>
                  <a:schemeClr val="tx1">
                    <a:lumMod val="95000"/>
                    <a:lumOff val="5000"/>
                  </a:schemeClr>
                </a:solidFill>
                <a:latin typeface="Barlow" pitchFamily="34" charset="0"/>
              </a:rPr>
              <a:t>Climate change causes irregular weather</a:t>
            </a:r>
          </a:p>
          <a:p>
            <a:pPr marL="285750" indent="-285750">
              <a:lnSpc>
                <a:spcPct val="200000"/>
              </a:lnSpc>
              <a:buFont typeface="Arial" panose="020B0604020202020204" pitchFamily="34" charset="0"/>
              <a:buChar char="•"/>
            </a:pPr>
            <a:r>
              <a:rPr lang="en-US" sz="1750" dirty="0">
                <a:solidFill>
                  <a:schemeClr val="tx1">
                    <a:lumMod val="95000"/>
                    <a:lumOff val="5000"/>
                  </a:schemeClr>
                </a:solidFill>
                <a:latin typeface="Barlow" pitchFamily="34" charset="0"/>
              </a:rPr>
              <a:t>Weather changes affect crop yield</a:t>
            </a:r>
          </a:p>
          <a:p>
            <a:pPr marL="285750" indent="-285750">
              <a:lnSpc>
                <a:spcPct val="200000"/>
              </a:lnSpc>
              <a:buFont typeface="Arial" panose="020B0604020202020204" pitchFamily="34" charset="0"/>
              <a:buChar char="•"/>
            </a:pPr>
            <a:r>
              <a:rPr lang="en-US" sz="1750" dirty="0">
                <a:solidFill>
                  <a:schemeClr val="tx1">
                    <a:lumMod val="95000"/>
                    <a:lumOff val="5000"/>
                  </a:schemeClr>
                </a:solidFill>
                <a:latin typeface="Barlow" pitchFamily="34" charset="0"/>
              </a:rPr>
              <a:t>Rainfall and  are not stable</a:t>
            </a:r>
          </a:p>
          <a:p>
            <a:pPr marL="285750" indent="-285750">
              <a:lnSpc>
                <a:spcPct val="200000"/>
              </a:lnSpc>
              <a:buFont typeface="Arial" panose="020B0604020202020204" pitchFamily="34" charset="0"/>
              <a:buChar char="•"/>
            </a:pPr>
            <a:r>
              <a:rPr lang="en-US" sz="1750" dirty="0">
                <a:solidFill>
                  <a:schemeClr val="tx1">
                    <a:lumMod val="95000"/>
                    <a:lumOff val="5000"/>
                  </a:schemeClr>
                </a:solidFill>
                <a:latin typeface="Barlow" pitchFamily="34" charset="0"/>
              </a:rPr>
              <a:t>Farmers lack clear data and analysis</a:t>
            </a:r>
          </a:p>
          <a:p>
            <a:pPr marL="285750" indent="-285750">
              <a:lnSpc>
                <a:spcPct val="200000"/>
              </a:lnSpc>
              <a:buFont typeface="Arial" panose="020B0604020202020204" pitchFamily="34" charset="0"/>
              <a:buChar char="•"/>
            </a:pPr>
            <a:r>
              <a:rPr lang="en-US" sz="1750" dirty="0">
                <a:solidFill>
                  <a:schemeClr val="tx1">
                    <a:lumMod val="95000"/>
                    <a:lumOff val="5000"/>
                  </a:schemeClr>
                </a:solidFill>
                <a:latin typeface="Barlow" pitchFamily="34" charset="0"/>
              </a:rPr>
              <a:t>Manual understanding is difficult</a:t>
            </a:r>
          </a:p>
          <a:p>
            <a:pPr marL="285750" indent="-285750">
              <a:lnSpc>
                <a:spcPct val="200000"/>
              </a:lnSpc>
              <a:buFont typeface="Arial" panose="020B0604020202020204" pitchFamily="34" charset="0"/>
              <a:buChar char="•"/>
            </a:pPr>
            <a:r>
              <a:rPr lang="en-US" sz="1750" dirty="0">
                <a:solidFill>
                  <a:schemeClr val="tx1">
                    <a:lumMod val="95000"/>
                    <a:lumOff val="5000"/>
                  </a:schemeClr>
                </a:solidFill>
                <a:latin typeface="Barlow" pitchFamily="34" charset="0"/>
              </a:rPr>
              <a:t>Data analysis helps in better decision making</a:t>
            </a:r>
          </a:p>
        </p:txBody>
      </p:sp>
      <p:sp>
        <p:nvSpPr>
          <p:cNvPr id="31" name="Rectangle 30">
            <a:extLst>
              <a:ext uri="{FF2B5EF4-FFF2-40B4-BE49-F238E27FC236}">
                <a16:creationId xmlns:a16="http://schemas.microsoft.com/office/drawing/2014/main" id="{6E90E430-BEEB-0E78-594E-4C350F300B12}"/>
              </a:ext>
            </a:extLst>
          </p:cNvPr>
          <p:cNvSpPr/>
          <p:nvPr/>
        </p:nvSpPr>
        <p:spPr>
          <a:xfrm>
            <a:off x="12868503"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1" name="Text 0">
            <a:extLst>
              <a:ext uri="{FF2B5EF4-FFF2-40B4-BE49-F238E27FC236}">
                <a16:creationId xmlns:a16="http://schemas.microsoft.com/office/drawing/2014/main" id="{A417C0C8-6A46-C773-1850-94A5CDC61548}"/>
              </a:ext>
            </a:extLst>
          </p:cNvPr>
          <p:cNvSpPr/>
          <p:nvPr/>
        </p:nvSpPr>
        <p:spPr>
          <a:xfrm>
            <a:off x="858890" y="1352535"/>
            <a:ext cx="6222133" cy="685800"/>
          </a:xfrm>
          <a:prstGeom prst="rect">
            <a:avLst/>
          </a:prstGeom>
          <a:noFill/>
          <a:ln/>
        </p:spPr>
        <p:txBody>
          <a:bodyPr wrap="none" lIns="0" tIns="0" rIns="0" bIns="0" rtlCol="0" anchor="t"/>
          <a:lstStyle/>
          <a:p>
            <a:pPr marL="0" indent="0" algn="l">
              <a:lnSpc>
                <a:spcPts val="5400"/>
              </a:lnSpc>
              <a:buNone/>
            </a:pPr>
            <a:r>
              <a:rPr lang="en-US" sz="4800" b="1" dirty="0">
                <a:solidFill>
                  <a:srgbClr val="FF0000"/>
                </a:solidFill>
                <a:latin typeface="Corben" pitchFamily="34" charset="0"/>
              </a:rPr>
              <a:t>Methodology &amp; Tools</a:t>
            </a:r>
          </a:p>
        </p:txBody>
      </p:sp>
      <p:grpSp>
        <p:nvGrpSpPr>
          <p:cNvPr id="60" name="Group 59">
            <a:extLst>
              <a:ext uri="{FF2B5EF4-FFF2-40B4-BE49-F238E27FC236}">
                <a16:creationId xmlns:a16="http://schemas.microsoft.com/office/drawing/2014/main" id="{49F26D50-B3D8-05D2-0E95-B122E2BBC275}"/>
              </a:ext>
            </a:extLst>
          </p:cNvPr>
          <p:cNvGrpSpPr/>
          <p:nvPr/>
        </p:nvGrpSpPr>
        <p:grpSpPr>
          <a:xfrm>
            <a:off x="762298" y="2591645"/>
            <a:ext cx="12792670" cy="3713476"/>
            <a:chOff x="762298" y="2128075"/>
            <a:chExt cx="12792670" cy="3713476"/>
          </a:xfrm>
        </p:grpSpPr>
        <p:grpSp>
          <p:nvGrpSpPr>
            <p:cNvPr id="42" name="Group 41">
              <a:extLst>
                <a:ext uri="{FF2B5EF4-FFF2-40B4-BE49-F238E27FC236}">
                  <a16:creationId xmlns:a16="http://schemas.microsoft.com/office/drawing/2014/main" id="{DEA0E9DD-CCAD-51DC-3F59-9F6F0F36E3E0}"/>
                </a:ext>
              </a:extLst>
            </p:cNvPr>
            <p:cNvGrpSpPr/>
            <p:nvPr/>
          </p:nvGrpSpPr>
          <p:grpSpPr>
            <a:xfrm>
              <a:off x="1141333" y="2388048"/>
              <a:ext cx="12347734" cy="3453503"/>
              <a:chOff x="1141333" y="2891433"/>
              <a:chExt cx="12347734" cy="3453503"/>
            </a:xfrm>
          </p:grpSpPr>
          <p:sp>
            <p:nvSpPr>
              <p:cNvPr id="43" name="Shape 2">
                <a:extLst>
                  <a:ext uri="{FF2B5EF4-FFF2-40B4-BE49-F238E27FC236}">
                    <a16:creationId xmlns:a16="http://schemas.microsoft.com/office/drawing/2014/main" id="{72911DCE-C1BE-181B-F0D8-E5795EEA8811}"/>
                  </a:ext>
                </a:extLst>
              </p:cNvPr>
              <p:cNvSpPr/>
              <p:nvPr/>
            </p:nvSpPr>
            <p:spPr>
              <a:xfrm>
                <a:off x="1141333" y="2891433"/>
                <a:ext cx="740569" cy="740569"/>
              </a:xfrm>
              <a:prstGeom prst="roundRect">
                <a:avLst>
                  <a:gd name="adj" fmla="val 12346028"/>
                </a:avLst>
              </a:prstGeom>
              <a:solidFill>
                <a:srgbClr val="16FFBB"/>
              </a:solidFill>
              <a:ln/>
            </p:spPr>
            <p:txBody>
              <a:bodyPr/>
              <a:lstStyle/>
              <a:p>
                <a:endParaRPr lang="en-IN"/>
              </a:p>
            </p:txBody>
          </p:sp>
          <p:pic>
            <p:nvPicPr>
              <p:cNvPr id="44" name="Image 0" descr="preencoded.png">
                <a:extLst>
                  <a:ext uri="{FF2B5EF4-FFF2-40B4-BE49-F238E27FC236}">
                    <a16:creationId xmlns:a16="http://schemas.microsoft.com/office/drawing/2014/main" id="{8EAEA33A-B8D9-FAA5-59E6-C8E3A18B93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44930" y="3095030"/>
                <a:ext cx="333256" cy="333256"/>
              </a:xfrm>
              <a:prstGeom prst="rect">
                <a:avLst/>
              </a:prstGeom>
            </p:spPr>
          </p:pic>
          <p:sp>
            <p:nvSpPr>
              <p:cNvPr id="45" name="Text 3">
                <a:extLst>
                  <a:ext uri="{FF2B5EF4-FFF2-40B4-BE49-F238E27FC236}">
                    <a16:creationId xmlns:a16="http://schemas.microsoft.com/office/drawing/2014/main" id="{94BAB603-B9AE-EB40-14DC-B6A5A81A57DB}"/>
                  </a:ext>
                </a:extLst>
              </p:cNvPr>
              <p:cNvSpPr/>
              <p:nvPr/>
            </p:nvSpPr>
            <p:spPr>
              <a:xfrm>
                <a:off x="1141333" y="3878818"/>
                <a:ext cx="2743200" cy="342900"/>
              </a:xfrm>
              <a:prstGeom prst="rect">
                <a:avLst/>
              </a:prstGeom>
              <a:noFill/>
              <a:ln/>
            </p:spPr>
            <p:txBody>
              <a:bodyPr wrap="none" lIns="0" tIns="0" rIns="0" bIns="0" rtlCol="0" anchor="t"/>
              <a:lstStyle/>
              <a:p>
                <a:pPr marL="0" indent="0" algn="l">
                  <a:lnSpc>
                    <a:spcPts val="2700"/>
                  </a:lnSpc>
                  <a:buNone/>
                </a:pPr>
                <a:r>
                  <a:rPr lang="en-US" sz="2400" b="1" dirty="0">
                    <a:solidFill>
                      <a:srgbClr val="0070C0"/>
                    </a:solidFill>
                    <a:ea typeface="Spline Sans Bold" pitchFamily="34" charset="-122"/>
                    <a:cs typeface="Spline Sans Bold" pitchFamily="34" charset="-120"/>
                  </a:rPr>
                  <a:t>Data Sources</a:t>
                </a:r>
                <a:endParaRPr lang="en-US" sz="2400" dirty="0">
                  <a:solidFill>
                    <a:srgbClr val="0070C0"/>
                  </a:solidFill>
                </a:endParaRPr>
              </a:p>
            </p:txBody>
          </p:sp>
          <p:sp>
            <p:nvSpPr>
              <p:cNvPr id="46" name="Text 4">
                <a:extLst>
                  <a:ext uri="{FF2B5EF4-FFF2-40B4-BE49-F238E27FC236}">
                    <a16:creationId xmlns:a16="http://schemas.microsoft.com/office/drawing/2014/main" id="{4874F533-DA7E-8B98-DDF6-89D0407374E7}"/>
                  </a:ext>
                </a:extLst>
              </p:cNvPr>
              <p:cNvSpPr/>
              <p:nvPr/>
            </p:nvSpPr>
            <p:spPr>
              <a:xfrm>
                <a:off x="1141333" y="4369832"/>
                <a:ext cx="3581638" cy="1975104"/>
              </a:xfrm>
              <a:prstGeom prst="rect">
                <a:avLst/>
              </a:prstGeom>
              <a:noFill/>
              <a:ln/>
            </p:spPr>
            <p:txBody>
              <a:bodyPr wrap="square" lIns="0" tIns="0" rIns="0" bIns="0" rtlCol="0" anchor="t"/>
              <a:lstStyle/>
              <a:p>
                <a:pPr marL="342900" indent="-342900" algn="l">
                  <a:lnSpc>
                    <a:spcPts val="3100"/>
                  </a:lnSpc>
                  <a:buSzPct val="100000"/>
                  <a:buChar char="•"/>
                </a:pPr>
                <a:r>
                  <a:rPr lang="en-US" sz="1900" dirty="0">
                    <a:latin typeface="Barlow" pitchFamily="34" charset="0"/>
                    <a:ea typeface="Barlow" pitchFamily="34" charset="-122"/>
                    <a:cs typeface="Barlow" pitchFamily="34" charset="-120"/>
                  </a:rPr>
                  <a:t>Government agriculture datasets</a:t>
                </a:r>
              </a:p>
              <a:p>
                <a:pPr marL="342900" indent="-342900" algn="l">
                  <a:lnSpc>
                    <a:spcPts val="3100"/>
                  </a:lnSpc>
                  <a:buSzPct val="100000"/>
                  <a:buChar char="•"/>
                </a:pPr>
                <a:r>
                  <a:rPr lang="en-US" sz="1900" dirty="0">
                    <a:latin typeface="Barlow" pitchFamily="34" charset="0"/>
                  </a:rPr>
                  <a:t>Kaggle Agriculture database</a:t>
                </a:r>
                <a:br>
                  <a:rPr lang="en-US" sz="1900" dirty="0">
                    <a:latin typeface="Barlow" pitchFamily="34" charset="0"/>
                  </a:rPr>
                </a:br>
                <a:r>
                  <a:rPr lang="en-US" sz="1900" dirty="0">
                    <a:latin typeface="Barlow" pitchFamily="34" charset="0"/>
                  </a:rPr>
                  <a:t>and Rainfall data</a:t>
                </a:r>
                <a:endParaRPr lang="en-US" sz="1900" dirty="0"/>
              </a:p>
            </p:txBody>
          </p:sp>
          <p:sp>
            <p:nvSpPr>
              <p:cNvPr id="47" name="Shape 6">
                <a:extLst>
                  <a:ext uri="{FF2B5EF4-FFF2-40B4-BE49-F238E27FC236}">
                    <a16:creationId xmlns:a16="http://schemas.microsoft.com/office/drawing/2014/main" id="{0E216D34-23BD-DF85-ACF7-6903DF034874}"/>
                  </a:ext>
                </a:extLst>
              </p:cNvPr>
              <p:cNvSpPr/>
              <p:nvPr/>
            </p:nvSpPr>
            <p:spPr>
              <a:xfrm>
                <a:off x="5524381" y="2891433"/>
                <a:ext cx="740569" cy="740569"/>
              </a:xfrm>
              <a:prstGeom prst="roundRect">
                <a:avLst>
                  <a:gd name="adj" fmla="val 12346028"/>
                </a:avLst>
              </a:prstGeom>
              <a:solidFill>
                <a:srgbClr val="29DDDA"/>
              </a:solidFill>
              <a:ln/>
            </p:spPr>
            <p:txBody>
              <a:bodyPr/>
              <a:lstStyle/>
              <a:p>
                <a:endParaRPr lang="en-IN"/>
              </a:p>
            </p:txBody>
          </p:sp>
          <p:pic>
            <p:nvPicPr>
              <p:cNvPr id="48" name="Image 1" descr="preencoded.png">
                <a:extLst>
                  <a:ext uri="{FF2B5EF4-FFF2-40B4-BE49-F238E27FC236}">
                    <a16:creationId xmlns:a16="http://schemas.microsoft.com/office/drawing/2014/main" id="{7ADFBAE1-A72E-07BB-9589-E4EC7D0CA6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27978" y="3095030"/>
                <a:ext cx="333256" cy="333256"/>
              </a:xfrm>
              <a:prstGeom prst="rect">
                <a:avLst/>
              </a:prstGeom>
            </p:spPr>
          </p:pic>
          <p:sp>
            <p:nvSpPr>
              <p:cNvPr id="49" name="Text 7">
                <a:extLst>
                  <a:ext uri="{FF2B5EF4-FFF2-40B4-BE49-F238E27FC236}">
                    <a16:creationId xmlns:a16="http://schemas.microsoft.com/office/drawing/2014/main" id="{C0C875B4-0FCC-08F4-296C-CC0D504339FD}"/>
                  </a:ext>
                </a:extLst>
              </p:cNvPr>
              <p:cNvSpPr/>
              <p:nvPr/>
            </p:nvSpPr>
            <p:spPr>
              <a:xfrm>
                <a:off x="5524381" y="3878818"/>
                <a:ext cx="2743200" cy="342900"/>
              </a:xfrm>
              <a:prstGeom prst="rect">
                <a:avLst/>
              </a:prstGeom>
              <a:noFill/>
              <a:ln/>
            </p:spPr>
            <p:txBody>
              <a:bodyPr wrap="none" lIns="0" tIns="0" rIns="0" bIns="0" rtlCol="0" anchor="t"/>
              <a:lstStyle/>
              <a:p>
                <a:pPr>
                  <a:lnSpc>
                    <a:spcPts val="2700"/>
                  </a:lnSpc>
                </a:pPr>
                <a:r>
                  <a:rPr lang="en-US" sz="2400" b="1" dirty="0">
                    <a:solidFill>
                      <a:srgbClr val="0070C0"/>
                    </a:solidFill>
                    <a:ea typeface="Spline Sans Bold" pitchFamily="34" charset="-122"/>
                  </a:rPr>
                  <a:t>Core Tools</a:t>
                </a:r>
              </a:p>
            </p:txBody>
          </p:sp>
          <p:sp>
            <p:nvSpPr>
              <p:cNvPr id="50" name="Text 8">
                <a:extLst>
                  <a:ext uri="{FF2B5EF4-FFF2-40B4-BE49-F238E27FC236}">
                    <a16:creationId xmlns:a16="http://schemas.microsoft.com/office/drawing/2014/main" id="{B386D200-4475-95D2-3877-ED5A5E7B12D6}"/>
                  </a:ext>
                </a:extLst>
              </p:cNvPr>
              <p:cNvSpPr/>
              <p:nvPr/>
            </p:nvSpPr>
            <p:spPr>
              <a:xfrm>
                <a:off x="5524381" y="4369832"/>
                <a:ext cx="3581638" cy="1185062"/>
              </a:xfrm>
              <a:prstGeom prst="rect">
                <a:avLst/>
              </a:prstGeom>
              <a:noFill/>
              <a:ln/>
            </p:spPr>
            <p:txBody>
              <a:bodyPr wrap="square" lIns="0" tIns="0" rIns="0" bIns="0" rtlCol="0" anchor="t"/>
              <a:lstStyle/>
              <a:p>
                <a:pPr marL="342900" indent="-342900" algn="l">
                  <a:lnSpc>
                    <a:spcPts val="3100"/>
                  </a:lnSpc>
                  <a:buSzPct val="100000"/>
                  <a:buChar char="•"/>
                </a:pPr>
                <a:r>
                  <a:rPr lang="en-US" sz="1900" dirty="0">
                    <a:latin typeface="Barlow" pitchFamily="34" charset="0"/>
                    <a:ea typeface="Barlow" pitchFamily="34" charset="-122"/>
                    <a:cs typeface="Barlow" pitchFamily="34" charset="-120"/>
                  </a:rPr>
                  <a:t>Python (Pandas, NumPy)</a:t>
                </a:r>
                <a:endParaRPr lang="en-US" sz="1900" dirty="0"/>
              </a:p>
              <a:p>
                <a:pPr marL="342900" indent="-342900" algn="l">
                  <a:lnSpc>
                    <a:spcPts val="3100"/>
                  </a:lnSpc>
                  <a:buSzPct val="100000"/>
                  <a:buChar char="•"/>
                </a:pPr>
                <a:r>
                  <a:rPr lang="en-US" sz="1900" dirty="0">
                    <a:latin typeface="Barlow" pitchFamily="34" charset="0"/>
                    <a:ea typeface="Barlow" pitchFamily="34" charset="-122"/>
                    <a:cs typeface="Barlow" pitchFamily="34" charset="-120"/>
                  </a:rPr>
                  <a:t>Excel for data validation</a:t>
                </a:r>
                <a:endParaRPr lang="en-US" sz="1900" dirty="0"/>
              </a:p>
              <a:p>
                <a:pPr marL="342900" indent="-342900" algn="l">
                  <a:lnSpc>
                    <a:spcPts val="3100"/>
                  </a:lnSpc>
                  <a:buSzPct val="100000"/>
                  <a:buChar char="•"/>
                </a:pPr>
                <a:r>
                  <a:rPr lang="en-US" sz="1900" dirty="0">
                    <a:latin typeface="Barlow" pitchFamily="34" charset="0"/>
                    <a:ea typeface="Barlow" pitchFamily="34" charset="-122"/>
                    <a:cs typeface="Barlow" pitchFamily="34" charset="-120"/>
                  </a:rPr>
                  <a:t>Power BI for dashboards</a:t>
                </a:r>
                <a:endParaRPr lang="en-US" sz="1900" dirty="0"/>
              </a:p>
            </p:txBody>
          </p:sp>
          <p:sp>
            <p:nvSpPr>
              <p:cNvPr id="51" name="Shape 10">
                <a:extLst>
                  <a:ext uri="{FF2B5EF4-FFF2-40B4-BE49-F238E27FC236}">
                    <a16:creationId xmlns:a16="http://schemas.microsoft.com/office/drawing/2014/main" id="{3C57A4AB-8460-4546-AF94-D3E3A1BED8F3}"/>
                  </a:ext>
                </a:extLst>
              </p:cNvPr>
              <p:cNvSpPr/>
              <p:nvPr/>
            </p:nvSpPr>
            <p:spPr>
              <a:xfrm>
                <a:off x="9907429" y="2891433"/>
                <a:ext cx="740569" cy="740569"/>
              </a:xfrm>
              <a:prstGeom prst="roundRect">
                <a:avLst>
                  <a:gd name="adj" fmla="val 12346028"/>
                </a:avLst>
              </a:prstGeom>
              <a:solidFill>
                <a:srgbClr val="37A7E7"/>
              </a:solidFill>
              <a:ln/>
            </p:spPr>
            <p:txBody>
              <a:bodyPr/>
              <a:lstStyle/>
              <a:p>
                <a:endParaRPr lang="en-IN"/>
              </a:p>
            </p:txBody>
          </p:sp>
          <p:pic>
            <p:nvPicPr>
              <p:cNvPr id="52" name="Image 2" descr="preencoded.png">
                <a:extLst>
                  <a:ext uri="{FF2B5EF4-FFF2-40B4-BE49-F238E27FC236}">
                    <a16:creationId xmlns:a16="http://schemas.microsoft.com/office/drawing/2014/main" id="{ECABAF06-1ADA-8FF4-0D84-C564425E2F5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11026" y="3095030"/>
                <a:ext cx="333256" cy="333256"/>
              </a:xfrm>
              <a:prstGeom prst="rect">
                <a:avLst/>
              </a:prstGeom>
            </p:spPr>
          </p:pic>
          <p:sp>
            <p:nvSpPr>
              <p:cNvPr id="53" name="Text 11">
                <a:extLst>
                  <a:ext uri="{FF2B5EF4-FFF2-40B4-BE49-F238E27FC236}">
                    <a16:creationId xmlns:a16="http://schemas.microsoft.com/office/drawing/2014/main" id="{A7F55B7E-C3B4-A02B-F524-A10B498E95E7}"/>
                  </a:ext>
                </a:extLst>
              </p:cNvPr>
              <p:cNvSpPr/>
              <p:nvPr/>
            </p:nvSpPr>
            <p:spPr>
              <a:xfrm>
                <a:off x="9907429" y="3878818"/>
                <a:ext cx="2743200" cy="342900"/>
              </a:xfrm>
              <a:prstGeom prst="rect">
                <a:avLst/>
              </a:prstGeom>
              <a:noFill/>
              <a:ln/>
            </p:spPr>
            <p:txBody>
              <a:bodyPr wrap="none" lIns="0" tIns="0" rIns="0" bIns="0" rtlCol="0" anchor="t"/>
              <a:lstStyle/>
              <a:p>
                <a:pPr indent="0">
                  <a:lnSpc>
                    <a:spcPts val="2700"/>
                  </a:lnSpc>
                  <a:buNone/>
                </a:pPr>
                <a:r>
                  <a:rPr lang="en-US" sz="2400" b="1" dirty="0">
                    <a:solidFill>
                      <a:srgbClr val="0070C0"/>
                    </a:solidFill>
                    <a:ea typeface="Spline Sans Bold" pitchFamily="34" charset="-122"/>
                  </a:rPr>
                  <a:t>Techniques</a:t>
                </a:r>
              </a:p>
            </p:txBody>
          </p:sp>
          <p:sp>
            <p:nvSpPr>
              <p:cNvPr id="54" name="Text 12">
                <a:extLst>
                  <a:ext uri="{FF2B5EF4-FFF2-40B4-BE49-F238E27FC236}">
                    <a16:creationId xmlns:a16="http://schemas.microsoft.com/office/drawing/2014/main" id="{6D0C2C51-AC9B-F66E-7C46-9EC4C4558D22}"/>
                  </a:ext>
                </a:extLst>
              </p:cNvPr>
              <p:cNvSpPr/>
              <p:nvPr/>
            </p:nvSpPr>
            <p:spPr>
              <a:xfrm>
                <a:off x="9907429" y="4369832"/>
                <a:ext cx="3581638" cy="1185062"/>
              </a:xfrm>
              <a:prstGeom prst="rect">
                <a:avLst/>
              </a:prstGeom>
              <a:noFill/>
              <a:ln/>
            </p:spPr>
            <p:txBody>
              <a:bodyPr wrap="square" lIns="0" tIns="0" rIns="0" bIns="0" rtlCol="0" anchor="t"/>
              <a:lstStyle/>
              <a:p>
                <a:pPr marL="342900" indent="-342900" algn="l">
                  <a:lnSpc>
                    <a:spcPts val="3100"/>
                  </a:lnSpc>
                  <a:buSzPct val="100000"/>
                  <a:buChar char="•"/>
                </a:pPr>
                <a:r>
                  <a:rPr lang="en-US" sz="1900" dirty="0">
                    <a:latin typeface="Barlow" pitchFamily="34" charset="0"/>
                    <a:ea typeface="Barlow" pitchFamily="34" charset="-122"/>
                    <a:cs typeface="Barlow" pitchFamily="34" charset="-120"/>
                  </a:rPr>
                  <a:t>Statistical analysis</a:t>
                </a:r>
                <a:endParaRPr lang="en-US" sz="1900" dirty="0"/>
              </a:p>
              <a:p>
                <a:pPr marL="342900" indent="-342900" algn="l">
                  <a:lnSpc>
                    <a:spcPts val="3100"/>
                  </a:lnSpc>
                  <a:buSzPct val="100000"/>
                  <a:buChar char="•"/>
                </a:pPr>
                <a:r>
                  <a:rPr lang="en-US" sz="1900" dirty="0">
                    <a:latin typeface="Barlow" pitchFamily="34" charset="0"/>
                    <a:ea typeface="Barlow" pitchFamily="34" charset="-122"/>
                    <a:cs typeface="Barlow" pitchFamily="34" charset="-120"/>
                  </a:rPr>
                  <a:t>Trend analysis</a:t>
                </a:r>
                <a:endParaRPr lang="en-US" sz="1900" dirty="0"/>
              </a:p>
              <a:p>
                <a:pPr marL="342900" indent="-342900" algn="l">
                  <a:lnSpc>
                    <a:spcPts val="3100"/>
                  </a:lnSpc>
                  <a:buSzPct val="100000"/>
                  <a:buChar char="•"/>
                </a:pPr>
                <a:r>
                  <a:rPr lang="en-US" sz="1900" dirty="0">
                    <a:latin typeface="Barlow" pitchFamily="34" charset="0"/>
                    <a:ea typeface="Barlow" pitchFamily="34" charset="-122"/>
                    <a:cs typeface="Barlow" pitchFamily="34" charset="-120"/>
                  </a:rPr>
                  <a:t>Data visualization</a:t>
                </a:r>
                <a:endParaRPr lang="en-US" sz="1900" dirty="0"/>
              </a:p>
            </p:txBody>
          </p:sp>
        </p:grpSp>
        <p:sp>
          <p:nvSpPr>
            <p:cNvPr id="57" name="Shape 1"/>
            <p:cNvSpPr/>
            <p:nvPr/>
          </p:nvSpPr>
          <p:spPr>
            <a:xfrm>
              <a:off x="762298" y="2128075"/>
              <a:ext cx="4196358" cy="3476744"/>
            </a:xfrm>
            <a:prstGeom prst="roundRect">
              <a:avLst>
                <a:gd name="adj" fmla="val 2740"/>
              </a:avLst>
            </a:prstGeom>
            <a:noFill/>
            <a:ln/>
          </p:spPr>
          <p:style>
            <a:lnRef idx="2">
              <a:schemeClr val="accent1"/>
            </a:lnRef>
            <a:fillRef idx="1">
              <a:schemeClr val="lt1"/>
            </a:fillRef>
            <a:effectRef idx="0">
              <a:schemeClr val="accent1"/>
            </a:effectRef>
            <a:fontRef idx="minor">
              <a:schemeClr val="dk1"/>
            </a:fontRef>
          </p:style>
          <p:txBody>
            <a:bodyPr/>
            <a:lstStyle/>
            <a:p>
              <a:endParaRPr lang="en-IN" dirty="0"/>
            </a:p>
          </p:txBody>
        </p:sp>
        <p:sp>
          <p:nvSpPr>
            <p:cNvPr id="58" name="Shape 1">
              <a:extLst>
                <a:ext uri="{FF2B5EF4-FFF2-40B4-BE49-F238E27FC236}">
                  <a16:creationId xmlns:a16="http://schemas.microsoft.com/office/drawing/2014/main" id="{D2691D85-C21B-F2F8-06E7-2BBC1D8363C2}"/>
                </a:ext>
              </a:extLst>
            </p:cNvPr>
            <p:cNvSpPr/>
            <p:nvPr/>
          </p:nvSpPr>
          <p:spPr>
            <a:xfrm>
              <a:off x="5060454" y="2128075"/>
              <a:ext cx="4196358" cy="3476744"/>
            </a:xfrm>
            <a:prstGeom prst="roundRect">
              <a:avLst>
                <a:gd name="adj" fmla="val 2740"/>
              </a:avLst>
            </a:prstGeom>
            <a:noFill/>
            <a:ln/>
          </p:spPr>
          <p:style>
            <a:lnRef idx="2">
              <a:schemeClr val="accent1"/>
            </a:lnRef>
            <a:fillRef idx="1">
              <a:schemeClr val="lt1"/>
            </a:fillRef>
            <a:effectRef idx="0">
              <a:schemeClr val="accent1"/>
            </a:effectRef>
            <a:fontRef idx="minor">
              <a:schemeClr val="dk1"/>
            </a:fontRef>
          </p:style>
          <p:txBody>
            <a:bodyPr/>
            <a:lstStyle/>
            <a:p>
              <a:endParaRPr lang="en-IN" dirty="0"/>
            </a:p>
          </p:txBody>
        </p:sp>
        <p:sp>
          <p:nvSpPr>
            <p:cNvPr id="59" name="Shape 1">
              <a:extLst>
                <a:ext uri="{FF2B5EF4-FFF2-40B4-BE49-F238E27FC236}">
                  <a16:creationId xmlns:a16="http://schemas.microsoft.com/office/drawing/2014/main" id="{AAF1AC90-C456-393C-82F0-46C54BB3366B}"/>
                </a:ext>
              </a:extLst>
            </p:cNvPr>
            <p:cNvSpPr/>
            <p:nvPr/>
          </p:nvSpPr>
          <p:spPr>
            <a:xfrm>
              <a:off x="9358610" y="2128075"/>
              <a:ext cx="4196358" cy="3476744"/>
            </a:xfrm>
            <a:prstGeom prst="roundRect">
              <a:avLst>
                <a:gd name="adj" fmla="val 2740"/>
              </a:avLst>
            </a:prstGeom>
            <a:noFill/>
            <a:ln/>
          </p:spPr>
          <p:style>
            <a:lnRef idx="2">
              <a:schemeClr val="accent1"/>
            </a:lnRef>
            <a:fillRef idx="1">
              <a:schemeClr val="lt1"/>
            </a:fillRef>
            <a:effectRef idx="0">
              <a:schemeClr val="accent1"/>
            </a:effectRef>
            <a:fontRef idx="minor">
              <a:schemeClr val="dk1"/>
            </a:fontRef>
          </p:style>
          <p:txBody>
            <a:bodyPr/>
            <a:lstStyle/>
            <a:p>
              <a:endParaRPr lang="en-IN" dirty="0"/>
            </a:p>
          </p:txBody>
        </p:sp>
      </p:grpSp>
      <p:sp>
        <p:nvSpPr>
          <p:cNvPr id="61" name="Rectangle 60">
            <a:extLst>
              <a:ext uri="{FF2B5EF4-FFF2-40B4-BE49-F238E27FC236}">
                <a16:creationId xmlns:a16="http://schemas.microsoft.com/office/drawing/2014/main" id="{48391A77-3104-EC39-7C2E-A7FB65EB8E51}"/>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355335-A93B-333B-D269-90D855A16ADC}"/>
              </a:ext>
            </a:extLst>
          </p:cNvPr>
          <p:cNvSpPr txBox="1"/>
          <p:nvPr/>
        </p:nvSpPr>
        <p:spPr>
          <a:xfrm>
            <a:off x="4014438" y="556090"/>
            <a:ext cx="5965903" cy="814838"/>
          </a:xfrm>
          <a:prstGeom prst="rect">
            <a:avLst/>
          </a:prstGeom>
          <a:noFill/>
        </p:spPr>
        <p:txBody>
          <a:bodyPr wrap="square" rtlCol="0">
            <a:spAutoFit/>
          </a:bodyPr>
          <a:lstStyle/>
          <a:p>
            <a:pPr>
              <a:lnSpc>
                <a:spcPts val="5400"/>
              </a:lnSpc>
            </a:pPr>
            <a:r>
              <a:rPr lang="en-IN" sz="4800" b="1" dirty="0">
                <a:solidFill>
                  <a:srgbClr val="FF0000"/>
                </a:solidFill>
                <a:latin typeface="Corben" pitchFamily="34" charset="0"/>
              </a:rPr>
              <a:t>OBJECTIVES / SCOPE</a:t>
            </a:r>
          </a:p>
        </p:txBody>
      </p:sp>
      <p:sp>
        <p:nvSpPr>
          <p:cNvPr id="4" name="TextBox 3">
            <a:extLst>
              <a:ext uri="{FF2B5EF4-FFF2-40B4-BE49-F238E27FC236}">
                <a16:creationId xmlns:a16="http://schemas.microsoft.com/office/drawing/2014/main" id="{66F0AF65-1063-D4E3-73D3-C9EC8CB737B0}"/>
              </a:ext>
            </a:extLst>
          </p:cNvPr>
          <p:cNvSpPr txBox="1"/>
          <p:nvPr/>
        </p:nvSpPr>
        <p:spPr>
          <a:xfrm>
            <a:off x="1204333" y="1544226"/>
            <a:ext cx="7081024" cy="6386364"/>
          </a:xfrm>
          <a:prstGeom prst="rect">
            <a:avLst/>
          </a:prstGeom>
          <a:noFill/>
        </p:spPr>
        <p:txBody>
          <a:bodyPr wrap="square">
            <a:spAutoFit/>
          </a:bodyPr>
          <a:lstStyle/>
          <a:p>
            <a:pPr>
              <a:lnSpc>
                <a:spcPct val="200000"/>
              </a:lnSpc>
            </a:pPr>
            <a:r>
              <a:rPr lang="en-US" sz="2400" b="1" dirty="0">
                <a:solidFill>
                  <a:srgbClr val="0070C0"/>
                </a:solidFill>
                <a:ea typeface="Spline Sans Bold" pitchFamily="34" charset="-122"/>
              </a:rPr>
              <a:t>Objectives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1900" dirty="0">
                <a:latin typeface="Barlow" pitchFamily="34" charset="0"/>
              </a:rPr>
              <a:t>To analyze the impact of rainfall on crop production and yield.</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1900" dirty="0">
                <a:latin typeface="Barlow" pitchFamily="34" charset="0"/>
              </a:rPr>
              <a:t>To compare production performance across different crop types and states.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1900" dirty="0">
                <a:latin typeface="Barlow" pitchFamily="34" charset="0"/>
              </a:rPr>
              <a:t>To identify top-performing crops based on total production.</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1900" dirty="0">
                <a:latin typeface="Barlow" pitchFamily="34" charset="0"/>
              </a:rPr>
              <a:t>To evaluate climate efficiency using the Impact Score metric.</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1900" dirty="0">
                <a:latin typeface="Barlow" pitchFamily="34" charset="0"/>
              </a:rPr>
              <a:t>To examine production trends over multiple years.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1900" dirty="0">
                <a:latin typeface="Barlow" pitchFamily="34" charset="0"/>
              </a:rPr>
              <a:t>To support better agricultural decision-making using data insights.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1900" dirty="0">
                <a:latin typeface="Barlow" pitchFamily="34" charset="0"/>
              </a:rPr>
              <a:t>To analyze crop production distribution using histogram and statistical measures.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1900" dirty="0">
                <a:latin typeface="Barlow" pitchFamily="34" charset="0"/>
              </a:rPr>
              <a:t>To compare production performance across different crop types using visual analytics.</a:t>
            </a:r>
          </a:p>
          <a:p>
            <a:pPr marL="342900" lvl="0" indent="-342900" eaLnBrk="0" fontAlgn="base" hangingPunct="0">
              <a:spcBef>
                <a:spcPct val="0"/>
              </a:spcBef>
              <a:spcAft>
                <a:spcPct val="0"/>
              </a:spcAft>
              <a:buFont typeface="Arial" panose="020B0604020202020204" pitchFamily="34" charset="0"/>
              <a:buChar char="•"/>
            </a:pPr>
            <a:endParaRPr lang="en-US" altLang="en-US" sz="1900" dirty="0">
              <a:latin typeface="Barlow" pitchFamily="34" charset="0"/>
            </a:endParaRPr>
          </a:p>
        </p:txBody>
      </p:sp>
      <p:sp>
        <p:nvSpPr>
          <p:cNvPr id="5" name="TextBox 4">
            <a:extLst>
              <a:ext uri="{FF2B5EF4-FFF2-40B4-BE49-F238E27FC236}">
                <a16:creationId xmlns:a16="http://schemas.microsoft.com/office/drawing/2014/main" id="{5624CEB2-F9A1-6E6C-EC2C-4F1CD04C684F}"/>
              </a:ext>
            </a:extLst>
          </p:cNvPr>
          <p:cNvSpPr txBox="1"/>
          <p:nvPr/>
        </p:nvSpPr>
        <p:spPr>
          <a:xfrm>
            <a:off x="8552985" y="2475665"/>
            <a:ext cx="5965903" cy="3657411"/>
          </a:xfrm>
          <a:prstGeom prst="rect">
            <a:avLst/>
          </a:prstGeom>
          <a:noFill/>
        </p:spPr>
        <p:txBody>
          <a:bodyPr wrap="square">
            <a:spAutoFit/>
          </a:bodyPr>
          <a:lstStyle/>
          <a:p>
            <a:pPr>
              <a:lnSpc>
                <a:spcPct val="200000"/>
              </a:lnSpc>
              <a:buNone/>
            </a:pPr>
            <a:r>
              <a:rPr lang="en-US" sz="2400" b="1" dirty="0">
                <a:solidFill>
                  <a:srgbClr val="0070C0"/>
                </a:solidFill>
                <a:ea typeface="Spline Sans Bold" pitchFamily="34" charset="-122"/>
              </a:rPr>
              <a:t>Scope of the Project</a:t>
            </a:r>
          </a:p>
          <a:p>
            <a:pPr marL="285750" indent="-285750">
              <a:lnSpc>
                <a:spcPct val="200000"/>
              </a:lnSpc>
              <a:buFont typeface="Arial" panose="020B0604020202020204" pitchFamily="34" charset="0"/>
              <a:buChar char="•"/>
            </a:pPr>
            <a:r>
              <a:rPr lang="en-US" sz="1900" dirty="0">
                <a:latin typeface="Barlow" pitchFamily="34" charset="0"/>
              </a:rPr>
              <a:t>Study past rainfall data</a:t>
            </a:r>
          </a:p>
          <a:p>
            <a:pPr marL="285750" indent="-285750">
              <a:lnSpc>
                <a:spcPct val="200000"/>
              </a:lnSpc>
              <a:buFont typeface="Arial" panose="020B0604020202020204" pitchFamily="34" charset="0"/>
              <a:buChar char="•"/>
            </a:pPr>
            <a:r>
              <a:rPr lang="en-US" sz="1900" dirty="0">
                <a:latin typeface="Barlow" pitchFamily="34" charset="0"/>
              </a:rPr>
              <a:t>Analyze crop yield data for different years</a:t>
            </a:r>
          </a:p>
          <a:p>
            <a:pPr marL="285750" indent="-285750">
              <a:lnSpc>
                <a:spcPct val="200000"/>
              </a:lnSpc>
              <a:buFont typeface="Arial" panose="020B0604020202020204" pitchFamily="34" charset="0"/>
              <a:buChar char="•"/>
            </a:pPr>
            <a:r>
              <a:rPr lang="en-US" sz="1900" dirty="0">
                <a:latin typeface="Barlow" pitchFamily="34" charset="0"/>
              </a:rPr>
              <a:t>Understand how climate affects crop production</a:t>
            </a:r>
          </a:p>
          <a:p>
            <a:pPr marL="285750" indent="-285750">
              <a:lnSpc>
                <a:spcPct val="200000"/>
              </a:lnSpc>
              <a:buFont typeface="Arial" panose="020B0604020202020204" pitchFamily="34" charset="0"/>
              <a:buChar char="•"/>
            </a:pPr>
            <a:r>
              <a:rPr lang="en-US" sz="1900" dirty="0">
                <a:latin typeface="Barlow" pitchFamily="34" charset="0"/>
              </a:rPr>
              <a:t>Show results using simple charts and graphs</a:t>
            </a:r>
          </a:p>
          <a:p>
            <a:pPr marL="285750" indent="-285750">
              <a:lnSpc>
                <a:spcPct val="200000"/>
              </a:lnSpc>
              <a:buFont typeface="Arial" panose="020B0604020202020204" pitchFamily="34" charset="0"/>
              <a:buChar char="•"/>
            </a:pPr>
            <a:r>
              <a:rPr lang="en-US" sz="1900" dirty="0">
                <a:latin typeface="Barlow" pitchFamily="34" charset="0"/>
              </a:rPr>
              <a:t>Help in better agricultural planning</a:t>
            </a:r>
          </a:p>
        </p:txBody>
      </p:sp>
      <p:sp>
        <p:nvSpPr>
          <p:cNvPr id="6" name="Rectangle 5">
            <a:extLst>
              <a:ext uri="{FF2B5EF4-FFF2-40B4-BE49-F238E27FC236}">
                <a16:creationId xmlns:a16="http://schemas.microsoft.com/office/drawing/2014/main" id="{D9722C3E-CFCB-713E-CF74-1DFBD1DAE96A}"/>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52373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06660"/>
          </a:xfrm>
          <a:prstGeom prst="rect">
            <a:avLst/>
          </a:prstGeom>
        </p:spPr>
      </p:pic>
      <p:sp>
        <p:nvSpPr>
          <p:cNvPr id="3" name="Text 0"/>
          <p:cNvSpPr/>
          <p:nvPr/>
        </p:nvSpPr>
        <p:spPr>
          <a:xfrm>
            <a:off x="785813" y="3434715"/>
            <a:ext cx="5613440" cy="701635"/>
          </a:xfrm>
          <a:prstGeom prst="rect">
            <a:avLst/>
          </a:prstGeom>
          <a:noFill/>
          <a:ln/>
        </p:spPr>
        <p:txBody>
          <a:bodyPr wrap="none" lIns="0" tIns="0" rIns="0" bIns="0" rtlCol="0" anchor="t"/>
          <a:lstStyle/>
          <a:p>
            <a:pPr marL="0" indent="0" algn="l">
              <a:lnSpc>
                <a:spcPts val="5500"/>
              </a:lnSpc>
              <a:buNone/>
            </a:pPr>
            <a:r>
              <a:rPr lang="en-US" sz="4400" b="1" dirty="0">
                <a:solidFill>
                  <a:srgbClr val="FF0000"/>
                </a:solidFill>
                <a:latin typeface="Corben" pitchFamily="34" charset="0"/>
                <a:ea typeface="Corben" pitchFamily="34" charset="-122"/>
                <a:cs typeface="Corben" pitchFamily="34" charset="-120"/>
              </a:rPr>
              <a:t>Problem Statement</a:t>
            </a:r>
            <a:endParaRPr lang="en-US" sz="4400" b="1" dirty="0">
              <a:solidFill>
                <a:srgbClr val="FF0000"/>
              </a:solidFill>
            </a:endParaRPr>
          </a:p>
        </p:txBody>
      </p:sp>
      <p:sp>
        <p:nvSpPr>
          <p:cNvPr id="4" name="Shape 1"/>
          <p:cNvSpPr/>
          <p:nvPr/>
        </p:nvSpPr>
        <p:spPr>
          <a:xfrm>
            <a:off x="785813" y="4469725"/>
            <a:ext cx="4204811" cy="3131820"/>
          </a:xfrm>
          <a:prstGeom prst="roundRect">
            <a:avLst>
              <a:gd name="adj" fmla="val 4672"/>
            </a:avLst>
          </a:prstGeom>
          <a:solidFill>
            <a:srgbClr val="F9F9FF">
              <a:alpha val="95000"/>
            </a:srgbClr>
          </a:solidFill>
          <a:ln w="30480">
            <a:solidFill>
              <a:srgbClr val="B8BFDF"/>
            </a:solidFill>
            <a:prstDash val="solid"/>
          </a:ln>
        </p:spPr>
      </p:sp>
      <p:sp>
        <p:nvSpPr>
          <p:cNvPr id="5" name="Shape 2"/>
          <p:cNvSpPr/>
          <p:nvPr/>
        </p:nvSpPr>
        <p:spPr>
          <a:xfrm>
            <a:off x="755333" y="4469725"/>
            <a:ext cx="121920" cy="3131820"/>
          </a:xfrm>
          <a:prstGeom prst="roundRect">
            <a:avLst>
              <a:gd name="adj" fmla="val 77352"/>
            </a:avLst>
          </a:prstGeom>
          <a:solidFill>
            <a:srgbClr val="4967E9"/>
          </a:solidFill>
          <a:ln/>
        </p:spPr>
      </p:sp>
      <p:sp>
        <p:nvSpPr>
          <p:cNvPr id="6" name="Text 3"/>
          <p:cNvSpPr/>
          <p:nvPr/>
        </p:nvSpPr>
        <p:spPr>
          <a:xfrm>
            <a:off x="1132165" y="4724638"/>
            <a:ext cx="3445550" cy="350758"/>
          </a:xfrm>
          <a:prstGeom prst="rect">
            <a:avLst/>
          </a:prstGeom>
          <a:noFill/>
          <a:ln/>
        </p:spPr>
        <p:txBody>
          <a:bodyPr wrap="none" lIns="0" tIns="0" rIns="0" bIns="0" rtlCol="0" anchor="t"/>
          <a:lstStyle/>
          <a:p>
            <a:pPr marL="0" indent="0" algn="l">
              <a:lnSpc>
                <a:spcPts val="2750"/>
              </a:lnSpc>
              <a:buNone/>
            </a:pPr>
            <a:r>
              <a:rPr lang="en-US" sz="2200" b="1" dirty="0">
                <a:solidFill>
                  <a:srgbClr val="00B050"/>
                </a:solidFill>
                <a:latin typeface="Corben" pitchFamily="34" charset="0"/>
                <a:ea typeface="Corben" pitchFamily="34" charset="-122"/>
                <a:cs typeface="Corben" pitchFamily="34" charset="-120"/>
              </a:rPr>
              <a:t>Farmers Face Uncertainty</a:t>
            </a:r>
            <a:endParaRPr lang="en-US" sz="2200" b="1" dirty="0">
              <a:solidFill>
                <a:srgbClr val="00B050"/>
              </a:solidFill>
            </a:endParaRPr>
          </a:p>
        </p:txBody>
      </p:sp>
      <p:sp>
        <p:nvSpPr>
          <p:cNvPr id="7" name="Text 4"/>
          <p:cNvSpPr/>
          <p:nvPr/>
        </p:nvSpPr>
        <p:spPr>
          <a:xfrm>
            <a:off x="1132165" y="5208746"/>
            <a:ext cx="3603546" cy="1787128"/>
          </a:xfrm>
          <a:prstGeom prst="rect">
            <a:avLst/>
          </a:prstGeom>
          <a:noFill/>
          <a:ln/>
        </p:spPr>
        <p:txBody>
          <a:bodyPr wrap="square" lIns="0" tIns="0" rIns="0" bIns="0" rtlCol="0" anchor="t"/>
          <a:lstStyle/>
          <a:p>
            <a:pPr algn="just">
              <a:lnSpc>
                <a:spcPts val="2750"/>
              </a:lnSpc>
            </a:pPr>
            <a:r>
              <a:rPr lang="en-US" sz="1750" dirty="0">
                <a:latin typeface="Barlow" pitchFamily="34" charset="0"/>
              </a:rPr>
              <a:t>Climate change makes weather unpredictable, so farmers are unsure about planting time and crop yield. This affects their income and food supply.</a:t>
            </a:r>
          </a:p>
        </p:txBody>
      </p:sp>
      <p:sp>
        <p:nvSpPr>
          <p:cNvPr id="8" name="Shape 5"/>
          <p:cNvSpPr/>
          <p:nvPr/>
        </p:nvSpPr>
        <p:spPr>
          <a:xfrm>
            <a:off x="5212794" y="4469725"/>
            <a:ext cx="4204811" cy="3131820"/>
          </a:xfrm>
          <a:prstGeom prst="roundRect">
            <a:avLst>
              <a:gd name="adj" fmla="val 4672"/>
            </a:avLst>
          </a:prstGeom>
          <a:solidFill>
            <a:srgbClr val="F9F9FF">
              <a:alpha val="95000"/>
            </a:srgbClr>
          </a:solidFill>
          <a:ln w="30480">
            <a:solidFill>
              <a:srgbClr val="B8BFDF"/>
            </a:solidFill>
            <a:prstDash val="solid"/>
          </a:ln>
        </p:spPr>
      </p:sp>
      <p:sp>
        <p:nvSpPr>
          <p:cNvPr id="9" name="Shape 6"/>
          <p:cNvSpPr/>
          <p:nvPr/>
        </p:nvSpPr>
        <p:spPr>
          <a:xfrm>
            <a:off x="5182314" y="4469725"/>
            <a:ext cx="121920" cy="3131820"/>
          </a:xfrm>
          <a:prstGeom prst="roundRect">
            <a:avLst>
              <a:gd name="adj" fmla="val 77352"/>
            </a:avLst>
          </a:prstGeom>
          <a:solidFill>
            <a:srgbClr val="4967E9"/>
          </a:solidFill>
          <a:ln/>
        </p:spPr>
      </p:sp>
      <p:sp>
        <p:nvSpPr>
          <p:cNvPr id="10" name="Text 7"/>
          <p:cNvSpPr/>
          <p:nvPr/>
        </p:nvSpPr>
        <p:spPr>
          <a:xfrm>
            <a:off x="5559147" y="4724638"/>
            <a:ext cx="2806660" cy="350758"/>
          </a:xfrm>
          <a:prstGeom prst="rect">
            <a:avLst/>
          </a:prstGeom>
          <a:noFill/>
          <a:ln/>
        </p:spPr>
        <p:txBody>
          <a:bodyPr wrap="none" lIns="0" tIns="0" rIns="0" bIns="0" rtlCol="0" anchor="t"/>
          <a:lstStyle/>
          <a:p>
            <a:pPr>
              <a:lnSpc>
                <a:spcPts val="2750"/>
              </a:lnSpc>
            </a:pPr>
            <a:r>
              <a:rPr lang="en-US" sz="2200" b="1" dirty="0">
                <a:solidFill>
                  <a:srgbClr val="00B050"/>
                </a:solidFill>
                <a:latin typeface="Corben" pitchFamily="34" charset="0"/>
              </a:rPr>
              <a:t>Analytical Tools Gap</a:t>
            </a:r>
          </a:p>
        </p:txBody>
      </p:sp>
      <p:sp>
        <p:nvSpPr>
          <p:cNvPr id="11" name="Text 8"/>
          <p:cNvSpPr/>
          <p:nvPr/>
        </p:nvSpPr>
        <p:spPr>
          <a:xfrm>
            <a:off x="5559147" y="5208746"/>
            <a:ext cx="3603546" cy="1787128"/>
          </a:xfrm>
          <a:prstGeom prst="rect">
            <a:avLst/>
          </a:prstGeom>
          <a:noFill/>
          <a:ln/>
        </p:spPr>
        <p:txBody>
          <a:bodyPr wrap="square" lIns="0" tIns="0" rIns="0" bIns="0" rtlCol="0" anchor="t"/>
          <a:lstStyle/>
          <a:p>
            <a:pPr algn="just">
              <a:lnSpc>
                <a:spcPts val="2750"/>
              </a:lnSpc>
            </a:pPr>
            <a:r>
              <a:rPr lang="en-US" sz="1750" dirty="0">
                <a:latin typeface="Barlow" pitchFamily="34" charset="0"/>
              </a:rPr>
              <a:t>Current systems do not properly connect climate data with crop yield data. Because of this, farmers cannot use data to make better farming decisions.</a:t>
            </a:r>
          </a:p>
        </p:txBody>
      </p:sp>
      <p:sp>
        <p:nvSpPr>
          <p:cNvPr id="12" name="Shape 9"/>
          <p:cNvSpPr/>
          <p:nvPr/>
        </p:nvSpPr>
        <p:spPr>
          <a:xfrm>
            <a:off x="9639776" y="4469725"/>
            <a:ext cx="4204811" cy="3131820"/>
          </a:xfrm>
          <a:prstGeom prst="roundRect">
            <a:avLst>
              <a:gd name="adj" fmla="val 4672"/>
            </a:avLst>
          </a:prstGeom>
          <a:solidFill>
            <a:srgbClr val="F9F9FF">
              <a:alpha val="95000"/>
            </a:srgbClr>
          </a:solidFill>
          <a:ln w="30480">
            <a:solidFill>
              <a:srgbClr val="B8BFDF"/>
            </a:solidFill>
            <a:prstDash val="solid"/>
          </a:ln>
        </p:spPr>
      </p:sp>
      <p:sp>
        <p:nvSpPr>
          <p:cNvPr id="13" name="Shape 10"/>
          <p:cNvSpPr/>
          <p:nvPr/>
        </p:nvSpPr>
        <p:spPr>
          <a:xfrm>
            <a:off x="9609296" y="4469725"/>
            <a:ext cx="121920" cy="3131820"/>
          </a:xfrm>
          <a:prstGeom prst="roundRect">
            <a:avLst>
              <a:gd name="adj" fmla="val 77352"/>
            </a:avLst>
          </a:prstGeom>
          <a:solidFill>
            <a:srgbClr val="4967E9"/>
          </a:solidFill>
          <a:ln/>
        </p:spPr>
      </p:sp>
      <p:sp>
        <p:nvSpPr>
          <p:cNvPr id="14" name="Text 11"/>
          <p:cNvSpPr/>
          <p:nvPr/>
        </p:nvSpPr>
        <p:spPr>
          <a:xfrm>
            <a:off x="9986129" y="4724638"/>
            <a:ext cx="3603546" cy="701516"/>
          </a:xfrm>
          <a:prstGeom prst="rect">
            <a:avLst/>
          </a:prstGeom>
          <a:noFill/>
          <a:ln/>
        </p:spPr>
        <p:txBody>
          <a:bodyPr wrap="square" lIns="0" tIns="0" rIns="0" bIns="0" rtlCol="0" anchor="t"/>
          <a:lstStyle/>
          <a:p>
            <a:pPr indent="0">
              <a:lnSpc>
                <a:spcPts val="2750"/>
              </a:lnSpc>
              <a:buNone/>
            </a:pPr>
            <a:r>
              <a:rPr lang="en-US" sz="2200" b="1" dirty="0">
                <a:solidFill>
                  <a:srgbClr val="00B050"/>
                </a:solidFill>
                <a:latin typeface="Corben" pitchFamily="34" charset="0"/>
              </a:rPr>
              <a:t>Data-to-Insights Conversion</a:t>
            </a:r>
          </a:p>
        </p:txBody>
      </p:sp>
      <p:sp>
        <p:nvSpPr>
          <p:cNvPr id="15" name="Text 12"/>
          <p:cNvSpPr/>
          <p:nvPr/>
        </p:nvSpPr>
        <p:spPr>
          <a:xfrm>
            <a:off x="9986129" y="5559504"/>
            <a:ext cx="3603546" cy="1787128"/>
          </a:xfrm>
          <a:prstGeom prst="rect">
            <a:avLst/>
          </a:prstGeom>
          <a:noFill/>
          <a:ln/>
        </p:spPr>
        <p:txBody>
          <a:bodyPr wrap="square" lIns="0" tIns="0" rIns="0" bIns="0" rtlCol="0" anchor="t"/>
          <a:lstStyle/>
          <a:p>
            <a:pPr algn="just">
              <a:lnSpc>
                <a:spcPts val="2750"/>
              </a:lnSpc>
            </a:pPr>
            <a:r>
              <a:rPr lang="en-US" sz="1750" dirty="0">
                <a:latin typeface="Barlow" pitchFamily="34" charset="0"/>
              </a:rPr>
              <a:t>Raw climate and crop data needs to be converted into clear and useful information that farmers and decision makers can understand and use.</a:t>
            </a:r>
          </a:p>
        </p:txBody>
      </p:sp>
      <p:sp>
        <p:nvSpPr>
          <p:cNvPr id="40" name="Rectangle 39">
            <a:extLst>
              <a:ext uri="{FF2B5EF4-FFF2-40B4-BE49-F238E27FC236}">
                <a16:creationId xmlns:a16="http://schemas.microsoft.com/office/drawing/2014/main" id="{B3470D41-09C6-0960-9381-DDA26D78AD28}"/>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1780BB9-CEB6-7689-AD56-6BE6F9EA8C19}"/>
              </a:ext>
            </a:extLst>
          </p:cNvPr>
          <p:cNvGraphicFramePr>
            <a:graphicFrameLocks noGrp="1"/>
          </p:cNvGraphicFramePr>
          <p:nvPr>
            <p:extLst>
              <p:ext uri="{D42A27DB-BD31-4B8C-83A1-F6EECF244321}">
                <p14:modId xmlns:p14="http://schemas.microsoft.com/office/powerpoint/2010/main" val="1535241875"/>
              </p:ext>
            </p:extLst>
          </p:nvPr>
        </p:nvGraphicFramePr>
        <p:xfrm>
          <a:off x="900132" y="1616928"/>
          <a:ext cx="12830135" cy="5884121"/>
        </p:xfrm>
        <a:graphic>
          <a:graphicData uri="http://schemas.openxmlformats.org/drawingml/2006/table">
            <a:tbl>
              <a:tblPr firstRow="1" bandRow="1">
                <a:tableStyleId>{69CF1AB2-1976-4502-BF36-3FF5EA218861}</a:tableStyleId>
              </a:tblPr>
              <a:tblGrid>
                <a:gridCol w="2566027">
                  <a:extLst>
                    <a:ext uri="{9D8B030D-6E8A-4147-A177-3AD203B41FA5}">
                      <a16:colId xmlns:a16="http://schemas.microsoft.com/office/drawing/2014/main" val="2533717608"/>
                    </a:ext>
                  </a:extLst>
                </a:gridCol>
                <a:gridCol w="2566027">
                  <a:extLst>
                    <a:ext uri="{9D8B030D-6E8A-4147-A177-3AD203B41FA5}">
                      <a16:colId xmlns:a16="http://schemas.microsoft.com/office/drawing/2014/main" val="608348241"/>
                    </a:ext>
                  </a:extLst>
                </a:gridCol>
                <a:gridCol w="2566027">
                  <a:extLst>
                    <a:ext uri="{9D8B030D-6E8A-4147-A177-3AD203B41FA5}">
                      <a16:colId xmlns:a16="http://schemas.microsoft.com/office/drawing/2014/main" val="3813013384"/>
                    </a:ext>
                  </a:extLst>
                </a:gridCol>
                <a:gridCol w="2566027">
                  <a:extLst>
                    <a:ext uri="{9D8B030D-6E8A-4147-A177-3AD203B41FA5}">
                      <a16:colId xmlns:a16="http://schemas.microsoft.com/office/drawing/2014/main" val="1733588618"/>
                    </a:ext>
                  </a:extLst>
                </a:gridCol>
                <a:gridCol w="2566027">
                  <a:extLst>
                    <a:ext uri="{9D8B030D-6E8A-4147-A177-3AD203B41FA5}">
                      <a16:colId xmlns:a16="http://schemas.microsoft.com/office/drawing/2014/main" val="1725664340"/>
                    </a:ext>
                  </a:extLst>
                </a:gridCol>
              </a:tblGrid>
              <a:tr h="722611">
                <a:tc>
                  <a:txBody>
                    <a:bodyPr/>
                    <a:lstStyle/>
                    <a:p>
                      <a:pPr algn="ctr">
                        <a:buNone/>
                      </a:pPr>
                      <a:r>
                        <a:rPr lang="en-IN" sz="2000" b="1" dirty="0">
                          <a:solidFill>
                            <a:srgbClr val="002060"/>
                          </a:solidFill>
                        </a:rPr>
                        <a:t>Study Stage</a:t>
                      </a:r>
                      <a:endParaRPr lang="en-IN" sz="2000" dirty="0">
                        <a:solidFill>
                          <a:srgbClr val="002060"/>
                        </a:solidFill>
                      </a:endParaRPr>
                    </a:p>
                  </a:txBody>
                  <a:tcPr anchor="ctr"/>
                </a:tc>
                <a:tc>
                  <a:txBody>
                    <a:bodyPr/>
                    <a:lstStyle/>
                    <a:p>
                      <a:pPr algn="ctr">
                        <a:buNone/>
                      </a:pPr>
                      <a:r>
                        <a:rPr lang="en-IN" sz="2000" b="1" dirty="0">
                          <a:solidFill>
                            <a:srgbClr val="002060"/>
                          </a:solidFill>
                        </a:rPr>
                        <a:t>Focus Area</a:t>
                      </a:r>
                      <a:endParaRPr lang="en-IN" sz="2000" dirty="0">
                        <a:solidFill>
                          <a:srgbClr val="002060"/>
                        </a:solidFill>
                      </a:endParaRPr>
                    </a:p>
                  </a:txBody>
                  <a:tcPr anchor="ctr"/>
                </a:tc>
                <a:tc>
                  <a:txBody>
                    <a:bodyPr/>
                    <a:lstStyle/>
                    <a:p>
                      <a:pPr algn="ctr">
                        <a:buNone/>
                      </a:pPr>
                      <a:r>
                        <a:rPr lang="en-IN" sz="2000" b="1" dirty="0">
                          <a:solidFill>
                            <a:srgbClr val="002060"/>
                          </a:solidFill>
                        </a:rPr>
                        <a:t>Method Used</a:t>
                      </a:r>
                      <a:endParaRPr lang="en-IN" sz="2000" dirty="0">
                        <a:solidFill>
                          <a:srgbClr val="002060"/>
                        </a:solidFill>
                      </a:endParaRPr>
                    </a:p>
                  </a:txBody>
                  <a:tcPr anchor="ctr"/>
                </a:tc>
                <a:tc>
                  <a:txBody>
                    <a:bodyPr/>
                    <a:lstStyle/>
                    <a:p>
                      <a:pPr algn="ctr">
                        <a:buNone/>
                      </a:pPr>
                      <a:r>
                        <a:rPr lang="en-IN" sz="2000" b="1" dirty="0">
                          <a:solidFill>
                            <a:srgbClr val="002060"/>
                          </a:solidFill>
                        </a:rPr>
                        <a:t>Limitation</a:t>
                      </a:r>
                      <a:endParaRPr lang="en-IN" sz="2000" dirty="0">
                        <a:solidFill>
                          <a:srgbClr val="002060"/>
                        </a:solidFill>
                      </a:endParaRPr>
                    </a:p>
                  </a:txBody>
                  <a:tcPr anchor="ctr"/>
                </a:tc>
                <a:tc>
                  <a:txBody>
                    <a:bodyPr/>
                    <a:lstStyle/>
                    <a:p>
                      <a:pPr algn="ctr">
                        <a:buNone/>
                      </a:pPr>
                      <a:r>
                        <a:rPr lang="en-IN" sz="2000" b="1" dirty="0">
                          <a:solidFill>
                            <a:srgbClr val="002060"/>
                          </a:solidFill>
                        </a:rPr>
                        <a:t>Improvement / Contribution</a:t>
                      </a:r>
                      <a:endParaRPr lang="en-IN" sz="2000" dirty="0">
                        <a:solidFill>
                          <a:srgbClr val="002060"/>
                        </a:solidFill>
                      </a:endParaRPr>
                    </a:p>
                  </a:txBody>
                  <a:tcPr anchor="ctr"/>
                </a:tc>
                <a:extLst>
                  <a:ext uri="{0D108BD9-81ED-4DB2-BD59-A6C34878D82A}">
                    <a16:rowId xmlns:a16="http://schemas.microsoft.com/office/drawing/2014/main" val="1023694068"/>
                  </a:ext>
                </a:extLst>
              </a:tr>
              <a:tr h="1032302">
                <a:tc>
                  <a:txBody>
                    <a:bodyPr/>
                    <a:lstStyle/>
                    <a:p>
                      <a:pPr algn="ctr">
                        <a:buNone/>
                      </a:pPr>
                      <a:r>
                        <a:rPr lang="en-IN" sz="1600" dirty="0">
                          <a:latin typeface="Cambria" panose="02040503050406030204" pitchFamily="18" charset="0"/>
                          <a:ea typeface="Cambria" panose="02040503050406030204" pitchFamily="18" charset="0"/>
                          <a:cs typeface="Times New Roman" panose="02020603050405020304" pitchFamily="18" charset="0"/>
                        </a:rPr>
                        <a:t>Early Studies</a:t>
                      </a:r>
                    </a:p>
                  </a:txBody>
                  <a:tcPr anchor="ctr"/>
                </a:tc>
                <a:tc>
                  <a:txBody>
                    <a:bodyPr/>
                    <a:lstStyle/>
                    <a:p>
                      <a:pPr algn="ctr">
                        <a:buNone/>
                      </a:pPr>
                      <a:r>
                        <a:rPr lang="en-IN" sz="1600">
                          <a:latin typeface="Cambria" panose="02040503050406030204" pitchFamily="18" charset="0"/>
                          <a:ea typeface="Cambria" panose="02040503050406030204" pitchFamily="18" charset="0"/>
                          <a:cs typeface="Times New Roman" panose="02020603050405020304" pitchFamily="18" charset="0"/>
                        </a:rPr>
                        <a:t>Crop yield analysis only</a:t>
                      </a:r>
                    </a:p>
                  </a:txBody>
                  <a:tcPr anchor="ctr"/>
                </a:tc>
                <a:tc>
                  <a:txBody>
                    <a:bodyPr/>
                    <a:lstStyle/>
                    <a:p>
                      <a:pPr algn="ctr">
                        <a:buNone/>
                      </a:pPr>
                      <a:r>
                        <a:rPr lang="en-US" sz="1600" dirty="0">
                          <a:latin typeface="Cambria" panose="02040503050406030204" pitchFamily="18" charset="0"/>
                          <a:ea typeface="Cambria" panose="02040503050406030204" pitchFamily="18" charset="0"/>
                          <a:cs typeface="Times New Roman" panose="02020603050405020304" pitchFamily="18" charset="0"/>
                        </a:rPr>
                        <a:t>Basic statistical methods like mean and average</a:t>
                      </a:r>
                    </a:p>
                  </a:txBody>
                  <a:tcPr anchor="ctr"/>
                </a:tc>
                <a:tc>
                  <a:txBody>
                    <a:bodyPr/>
                    <a:lstStyle/>
                    <a:p>
                      <a:pPr algn="ctr">
                        <a:buNone/>
                      </a:pPr>
                      <a:r>
                        <a:rPr lang="en-US" sz="1600" dirty="0">
                          <a:latin typeface="Cambria" panose="02040503050406030204" pitchFamily="18" charset="0"/>
                          <a:ea typeface="Cambria" panose="02040503050406030204" pitchFamily="18" charset="0"/>
                          <a:cs typeface="Times New Roman" panose="02020603050405020304" pitchFamily="18" charset="0"/>
                        </a:rPr>
                        <a:t>Climate factors were not considered</a:t>
                      </a:r>
                    </a:p>
                  </a:txBody>
                  <a:tcPr anchor="ctr"/>
                </a:tc>
                <a:tc>
                  <a:txBody>
                    <a:bodyPr/>
                    <a:lstStyle/>
                    <a:p>
                      <a:pPr algn="ctr">
                        <a:buNone/>
                      </a:pPr>
                      <a:r>
                        <a:rPr lang="en-US" sz="1600" dirty="0">
                          <a:latin typeface="Cambria" panose="02040503050406030204" pitchFamily="18" charset="0"/>
                          <a:ea typeface="Cambria" panose="02040503050406030204" pitchFamily="18" charset="0"/>
                          <a:cs typeface="Times New Roman" panose="02020603050405020304" pitchFamily="18" charset="0"/>
                        </a:rPr>
                        <a:t>Provided base understanding of crop productivity</a:t>
                      </a:r>
                    </a:p>
                  </a:txBody>
                  <a:tcPr anchor="ctr"/>
                </a:tc>
                <a:extLst>
                  <a:ext uri="{0D108BD9-81ED-4DB2-BD59-A6C34878D82A}">
                    <a16:rowId xmlns:a16="http://schemas.microsoft.com/office/drawing/2014/main" val="3457524864"/>
                  </a:ext>
                </a:extLst>
              </a:tr>
              <a:tr h="1032302">
                <a:tc>
                  <a:txBody>
                    <a:bodyPr/>
                    <a:lstStyle/>
                    <a:p>
                      <a:pPr algn="ctr">
                        <a:buNone/>
                      </a:pPr>
                      <a:r>
                        <a:rPr lang="en-IN" sz="1600">
                          <a:latin typeface="Cambria" panose="02040503050406030204" pitchFamily="18" charset="0"/>
                          <a:ea typeface="Cambria" panose="02040503050406030204" pitchFamily="18" charset="0"/>
                          <a:cs typeface="Times New Roman" panose="02020603050405020304" pitchFamily="18" charset="0"/>
                        </a:rPr>
                        <a:t>Later Research</a:t>
                      </a:r>
                    </a:p>
                  </a:txBody>
                  <a:tcPr anchor="ctr"/>
                </a:tc>
                <a:tc>
                  <a:txBody>
                    <a:bodyPr/>
                    <a:lstStyle/>
                    <a:p>
                      <a:pPr algn="ctr">
                        <a:buNone/>
                      </a:pPr>
                      <a:r>
                        <a:rPr lang="en-US" sz="1600" dirty="0">
                          <a:latin typeface="Cambria" panose="02040503050406030204" pitchFamily="18" charset="0"/>
                          <a:ea typeface="Cambria" panose="02040503050406030204" pitchFamily="18" charset="0"/>
                          <a:cs typeface="Times New Roman" panose="02020603050405020304" pitchFamily="18" charset="0"/>
                        </a:rPr>
                        <a:t>Climate and crop yield relationship</a:t>
                      </a:r>
                    </a:p>
                  </a:txBody>
                  <a:tcPr anchor="ctr"/>
                </a:tc>
                <a:tc>
                  <a:txBody>
                    <a:bodyPr/>
                    <a:lstStyle/>
                    <a:p>
                      <a:pPr algn="ctr">
                        <a:buNone/>
                      </a:pPr>
                      <a:r>
                        <a:rPr lang="en-US" sz="1600" dirty="0">
                          <a:latin typeface="Cambria" panose="02040503050406030204" pitchFamily="18" charset="0"/>
                          <a:ea typeface="Cambria" panose="02040503050406030204" pitchFamily="18" charset="0"/>
                          <a:cs typeface="Times New Roman" panose="02020603050405020304" pitchFamily="18" charset="0"/>
                        </a:rPr>
                        <a:t> and rainfall comparison analysis</a:t>
                      </a:r>
                    </a:p>
                  </a:txBody>
                  <a:tcPr anchor="ctr"/>
                </a:tc>
                <a:tc>
                  <a:txBody>
                    <a:bodyPr/>
                    <a:lstStyle/>
                    <a:p>
                      <a:pPr algn="ctr">
                        <a:buNone/>
                      </a:pPr>
                      <a:r>
                        <a:rPr lang="en-US" sz="1600">
                          <a:latin typeface="Cambria" panose="02040503050406030204" pitchFamily="18" charset="0"/>
                          <a:ea typeface="Cambria" panose="02040503050406030204" pitchFamily="18" charset="0"/>
                          <a:cs typeface="Times New Roman" panose="02020603050405020304" pitchFamily="18" charset="0"/>
                        </a:rPr>
                        <a:t>Limited to small datasets and regions</a:t>
                      </a:r>
                    </a:p>
                  </a:txBody>
                  <a:tcPr anchor="ctr"/>
                </a:tc>
                <a:tc>
                  <a:txBody>
                    <a:bodyPr/>
                    <a:lstStyle/>
                    <a:p>
                      <a:pPr algn="ctr">
                        <a:buNone/>
                      </a:pPr>
                      <a:r>
                        <a:rPr lang="en-US" sz="1600">
                          <a:latin typeface="Cambria" panose="02040503050406030204" pitchFamily="18" charset="0"/>
                          <a:ea typeface="Cambria" panose="02040503050406030204" pitchFamily="18" charset="0"/>
                          <a:cs typeface="Times New Roman" panose="02020603050405020304" pitchFamily="18" charset="0"/>
                        </a:rPr>
                        <a:t>Identified impact of climate variables on crops</a:t>
                      </a:r>
                    </a:p>
                  </a:txBody>
                  <a:tcPr anchor="ctr"/>
                </a:tc>
                <a:extLst>
                  <a:ext uri="{0D108BD9-81ED-4DB2-BD59-A6C34878D82A}">
                    <a16:rowId xmlns:a16="http://schemas.microsoft.com/office/drawing/2014/main" val="33313502"/>
                  </a:ext>
                </a:extLst>
              </a:tr>
              <a:tr h="1032302">
                <a:tc>
                  <a:txBody>
                    <a:bodyPr/>
                    <a:lstStyle/>
                    <a:p>
                      <a:pPr algn="ctr">
                        <a:buNone/>
                      </a:pPr>
                      <a:r>
                        <a:rPr lang="en-IN" sz="1600">
                          <a:latin typeface="Cambria" panose="02040503050406030204" pitchFamily="18" charset="0"/>
                          <a:ea typeface="Cambria" panose="02040503050406030204" pitchFamily="18" charset="0"/>
                          <a:cs typeface="Times New Roman" panose="02020603050405020304" pitchFamily="18" charset="0"/>
                        </a:rPr>
                        <a:t>Separate Dataset Projects</a:t>
                      </a:r>
                    </a:p>
                  </a:txBody>
                  <a:tcPr anchor="ctr"/>
                </a:tc>
                <a:tc>
                  <a:txBody>
                    <a:bodyPr/>
                    <a:lstStyle/>
                    <a:p>
                      <a:pPr algn="ctr">
                        <a:buNone/>
                      </a:pPr>
                      <a:r>
                        <a:rPr lang="en-US" sz="1600">
                          <a:latin typeface="Cambria" panose="02040503050406030204" pitchFamily="18" charset="0"/>
                          <a:ea typeface="Cambria" panose="02040503050406030204" pitchFamily="18" charset="0"/>
                          <a:cs typeface="Times New Roman" panose="02020603050405020304" pitchFamily="18" charset="0"/>
                        </a:rPr>
                        <a:t>Climate and agricultural data analyzed separately</a:t>
                      </a:r>
                    </a:p>
                  </a:txBody>
                  <a:tcPr anchor="ctr"/>
                </a:tc>
                <a:tc>
                  <a:txBody>
                    <a:bodyPr/>
                    <a:lstStyle/>
                    <a:p>
                      <a:pPr algn="ctr">
                        <a:buNone/>
                      </a:pPr>
                      <a:r>
                        <a:rPr lang="en-IN" sz="1600" dirty="0">
                          <a:latin typeface="Cambria" panose="02040503050406030204" pitchFamily="18" charset="0"/>
                          <a:ea typeface="Cambria" panose="02040503050406030204" pitchFamily="18" charset="0"/>
                          <a:cs typeface="Times New Roman" panose="02020603050405020304" pitchFamily="18" charset="0"/>
                        </a:rPr>
                        <a:t>Comparative analysis between datasets</a:t>
                      </a:r>
                    </a:p>
                  </a:txBody>
                  <a:tcPr anchor="ctr"/>
                </a:tc>
                <a:tc>
                  <a:txBody>
                    <a:bodyPr/>
                    <a:lstStyle/>
                    <a:p>
                      <a:pPr algn="ctr">
                        <a:buNone/>
                      </a:pPr>
                      <a:r>
                        <a:rPr lang="en-US" sz="1600" dirty="0">
                          <a:latin typeface="Cambria" panose="02040503050406030204" pitchFamily="18" charset="0"/>
                          <a:ea typeface="Cambria" panose="02040503050406030204" pitchFamily="18" charset="0"/>
                          <a:cs typeface="Times New Roman" panose="02020603050405020304" pitchFamily="18" charset="0"/>
                        </a:rPr>
                        <a:t>Lack of integration reduced accuracy and practical use</a:t>
                      </a:r>
                    </a:p>
                  </a:txBody>
                  <a:tcPr anchor="ctr"/>
                </a:tc>
                <a:tc>
                  <a:txBody>
                    <a:bodyPr/>
                    <a:lstStyle/>
                    <a:p>
                      <a:pPr algn="ctr">
                        <a:buNone/>
                      </a:pPr>
                      <a:r>
                        <a:rPr lang="en-US" sz="1600">
                          <a:latin typeface="Cambria" panose="02040503050406030204" pitchFamily="18" charset="0"/>
                          <a:ea typeface="Cambria" panose="02040503050406030204" pitchFamily="18" charset="0"/>
                          <a:cs typeface="Times New Roman" panose="02020603050405020304" pitchFamily="18" charset="0"/>
                        </a:rPr>
                        <a:t>Highlighted need for integrated data systems</a:t>
                      </a:r>
                    </a:p>
                  </a:txBody>
                  <a:tcPr anchor="ctr"/>
                </a:tc>
                <a:extLst>
                  <a:ext uri="{0D108BD9-81ED-4DB2-BD59-A6C34878D82A}">
                    <a16:rowId xmlns:a16="http://schemas.microsoft.com/office/drawing/2014/main" val="2308596378"/>
                  </a:ext>
                </a:extLst>
              </a:tr>
              <a:tr h="1032302">
                <a:tc>
                  <a:txBody>
                    <a:bodyPr/>
                    <a:lstStyle/>
                    <a:p>
                      <a:pPr algn="ctr">
                        <a:buNone/>
                      </a:pPr>
                      <a:r>
                        <a:rPr lang="en-IN" sz="1600">
                          <a:latin typeface="Cambria" panose="02040503050406030204" pitchFamily="18" charset="0"/>
                          <a:ea typeface="Cambria" panose="02040503050406030204" pitchFamily="18" charset="0"/>
                          <a:cs typeface="Times New Roman" panose="02020603050405020304" pitchFamily="18" charset="0"/>
                        </a:rPr>
                        <a:t>Recent Studies</a:t>
                      </a:r>
                    </a:p>
                  </a:txBody>
                  <a:tcPr anchor="ctr"/>
                </a:tc>
                <a:tc>
                  <a:txBody>
                    <a:bodyPr/>
                    <a:lstStyle/>
                    <a:p>
                      <a:pPr algn="ctr">
                        <a:buNone/>
                      </a:pPr>
                      <a:r>
                        <a:rPr lang="en-US" sz="1600">
                          <a:latin typeface="Cambria" panose="02040503050406030204" pitchFamily="18" charset="0"/>
                          <a:ea typeface="Cambria" panose="02040503050406030204" pitchFamily="18" charset="0"/>
                          <a:cs typeface="Times New Roman" panose="02020603050405020304" pitchFamily="18" charset="0"/>
                        </a:rPr>
                        <a:t>Data analytics and visualization techniques</a:t>
                      </a:r>
                    </a:p>
                  </a:txBody>
                  <a:tcPr anchor="ctr"/>
                </a:tc>
                <a:tc>
                  <a:txBody>
                    <a:bodyPr/>
                    <a:lstStyle/>
                    <a:p>
                      <a:pPr algn="ctr">
                        <a:buNone/>
                      </a:pPr>
                      <a:r>
                        <a:rPr lang="en-IN" sz="1600">
                          <a:latin typeface="Cambria" panose="02040503050406030204" pitchFamily="18" charset="0"/>
                          <a:ea typeface="Cambria" panose="02040503050406030204" pitchFamily="18" charset="0"/>
                          <a:cs typeface="Times New Roman" panose="02020603050405020304" pitchFamily="18" charset="0"/>
                        </a:rPr>
                        <a:t>Charts, dashboards, trend analysis</a:t>
                      </a:r>
                    </a:p>
                  </a:txBody>
                  <a:tcPr anchor="ctr"/>
                </a:tc>
                <a:tc>
                  <a:txBody>
                    <a:bodyPr/>
                    <a:lstStyle/>
                    <a:p>
                      <a:pPr algn="ctr">
                        <a:buNone/>
                      </a:pPr>
                      <a:r>
                        <a:rPr lang="en-US" sz="1600" dirty="0">
                          <a:latin typeface="Cambria" panose="02040503050406030204" pitchFamily="18" charset="0"/>
                          <a:ea typeface="Cambria" panose="02040503050406030204" pitchFamily="18" charset="0"/>
                          <a:cs typeface="Times New Roman" panose="02020603050405020304" pitchFamily="18" charset="0"/>
                        </a:rPr>
                        <a:t>Limited real-time and predictive capability</a:t>
                      </a:r>
                    </a:p>
                  </a:txBody>
                  <a:tcPr anchor="ctr"/>
                </a:tc>
                <a:tc>
                  <a:txBody>
                    <a:bodyPr/>
                    <a:lstStyle/>
                    <a:p>
                      <a:pPr algn="ctr">
                        <a:buNone/>
                      </a:pPr>
                      <a:r>
                        <a:rPr lang="en-US" sz="1600" dirty="0">
                          <a:latin typeface="Cambria" panose="02040503050406030204" pitchFamily="18" charset="0"/>
                          <a:ea typeface="Cambria" panose="02040503050406030204" pitchFamily="18" charset="0"/>
                          <a:cs typeface="Times New Roman" panose="02020603050405020304" pitchFamily="18" charset="0"/>
                        </a:rPr>
                        <a:t>Improved pattern identification and visual insights</a:t>
                      </a:r>
                    </a:p>
                  </a:txBody>
                  <a:tcPr anchor="ctr"/>
                </a:tc>
                <a:extLst>
                  <a:ext uri="{0D108BD9-81ED-4DB2-BD59-A6C34878D82A}">
                    <a16:rowId xmlns:a16="http://schemas.microsoft.com/office/drawing/2014/main" val="1609188159"/>
                  </a:ext>
                </a:extLst>
              </a:tr>
              <a:tr h="1032302">
                <a:tc>
                  <a:txBody>
                    <a:bodyPr/>
                    <a:lstStyle/>
                    <a:p>
                      <a:pPr algn="ctr">
                        <a:buNone/>
                      </a:pPr>
                      <a:r>
                        <a:rPr lang="en-IN" sz="1600">
                          <a:latin typeface="Cambria" panose="02040503050406030204" pitchFamily="18" charset="0"/>
                          <a:ea typeface="Cambria" panose="02040503050406030204" pitchFamily="18" charset="0"/>
                          <a:cs typeface="Times New Roman" panose="02020603050405020304" pitchFamily="18" charset="0"/>
                        </a:rPr>
                        <a:t>Newer Big Data Projects</a:t>
                      </a:r>
                    </a:p>
                  </a:txBody>
                  <a:tcPr anchor="ctr"/>
                </a:tc>
                <a:tc>
                  <a:txBody>
                    <a:bodyPr/>
                    <a:lstStyle/>
                    <a:p>
                      <a:pPr algn="ctr">
                        <a:buNone/>
                      </a:pPr>
                      <a:r>
                        <a:rPr lang="en-US" sz="1600">
                          <a:latin typeface="Cambria" panose="02040503050406030204" pitchFamily="18" charset="0"/>
                          <a:ea typeface="Cambria" panose="02040503050406030204" pitchFamily="18" charset="0"/>
                          <a:cs typeface="Times New Roman" panose="02020603050405020304" pitchFamily="18" charset="0"/>
                        </a:rPr>
                        <a:t>Large integrated climate and crop datasets</a:t>
                      </a:r>
                    </a:p>
                  </a:txBody>
                  <a:tcPr anchor="ctr"/>
                </a:tc>
                <a:tc>
                  <a:txBody>
                    <a:bodyPr/>
                    <a:lstStyle/>
                    <a:p>
                      <a:pPr algn="ctr">
                        <a:buNone/>
                      </a:pPr>
                      <a:r>
                        <a:rPr lang="en-US" sz="1600">
                          <a:latin typeface="Cambria" panose="02040503050406030204" pitchFamily="18" charset="0"/>
                          <a:ea typeface="Cambria" panose="02040503050406030204" pitchFamily="18" charset="0"/>
                          <a:cs typeface="Times New Roman" panose="02020603050405020304" pitchFamily="18" charset="0"/>
                        </a:rPr>
                        <a:t>Big Data tools and advanced analytics</a:t>
                      </a:r>
                    </a:p>
                  </a:txBody>
                  <a:tcPr anchor="ctr"/>
                </a:tc>
                <a:tc>
                  <a:txBody>
                    <a:bodyPr/>
                    <a:lstStyle/>
                    <a:p>
                      <a:pPr algn="ctr">
                        <a:buNone/>
                      </a:pPr>
                      <a:r>
                        <a:rPr lang="en-US" sz="1600">
                          <a:latin typeface="Cambria" panose="02040503050406030204" pitchFamily="18" charset="0"/>
                          <a:ea typeface="Cambria" panose="02040503050406030204" pitchFamily="18" charset="0"/>
                          <a:cs typeface="Times New Roman" panose="02020603050405020304" pitchFamily="18" charset="0"/>
                        </a:rPr>
                        <a:t>High computational requirements and complexity</a:t>
                      </a:r>
                    </a:p>
                  </a:txBody>
                  <a:tcPr anchor="ctr"/>
                </a:tc>
                <a:tc>
                  <a:txBody>
                    <a:bodyPr/>
                    <a:lstStyle/>
                    <a:p>
                      <a:pPr algn="ctr">
                        <a:buNone/>
                      </a:pPr>
                      <a:r>
                        <a:rPr lang="en-US" sz="1600" dirty="0">
                          <a:latin typeface="Cambria" panose="02040503050406030204" pitchFamily="18" charset="0"/>
                          <a:ea typeface="Cambria" panose="02040503050406030204" pitchFamily="18" charset="0"/>
                          <a:cs typeface="Times New Roman" panose="02020603050405020304" pitchFamily="18" charset="0"/>
                        </a:rPr>
                        <a:t>Higher accuracy, better insights, and strong decision support</a:t>
                      </a:r>
                    </a:p>
                  </a:txBody>
                  <a:tcPr anchor="ctr"/>
                </a:tc>
                <a:extLst>
                  <a:ext uri="{0D108BD9-81ED-4DB2-BD59-A6C34878D82A}">
                    <a16:rowId xmlns:a16="http://schemas.microsoft.com/office/drawing/2014/main" val="361876881"/>
                  </a:ext>
                </a:extLst>
              </a:tr>
            </a:tbl>
          </a:graphicData>
        </a:graphic>
      </p:graphicFrame>
      <p:sp>
        <p:nvSpPr>
          <p:cNvPr id="5" name="Text 0">
            <a:extLst>
              <a:ext uri="{FF2B5EF4-FFF2-40B4-BE49-F238E27FC236}">
                <a16:creationId xmlns:a16="http://schemas.microsoft.com/office/drawing/2014/main" id="{00FB5C62-4BB9-C279-CDD2-7C6990FFA8A5}"/>
              </a:ext>
            </a:extLst>
          </p:cNvPr>
          <p:cNvSpPr/>
          <p:nvPr/>
        </p:nvSpPr>
        <p:spPr>
          <a:xfrm>
            <a:off x="793790" y="617040"/>
            <a:ext cx="7438549" cy="708779"/>
          </a:xfrm>
          <a:prstGeom prst="rect">
            <a:avLst/>
          </a:prstGeom>
          <a:noFill/>
          <a:ln/>
        </p:spPr>
        <p:txBody>
          <a:bodyPr wrap="none" lIns="0" tIns="0" rIns="0" bIns="0" rtlCol="0" anchor="t"/>
          <a:lstStyle/>
          <a:p>
            <a:pPr marL="0" indent="0" algn="l">
              <a:lnSpc>
                <a:spcPts val="5550"/>
              </a:lnSpc>
              <a:buNone/>
            </a:pPr>
            <a:r>
              <a:rPr lang="en-US" sz="4450" b="1" dirty="0">
                <a:solidFill>
                  <a:srgbClr val="FF0000"/>
                </a:solidFill>
                <a:latin typeface="Corben" pitchFamily="34" charset="0"/>
                <a:ea typeface="Corben" pitchFamily="34" charset="-122"/>
                <a:cs typeface="Corben" pitchFamily="34" charset="-120"/>
              </a:rPr>
              <a:t>Literature Review</a:t>
            </a:r>
            <a:endParaRPr lang="en-US" sz="4450" b="1" dirty="0">
              <a:solidFill>
                <a:srgbClr val="FF0000"/>
              </a:solidFill>
            </a:endParaRPr>
          </a:p>
        </p:txBody>
      </p:sp>
      <p:sp>
        <p:nvSpPr>
          <p:cNvPr id="6" name="Rectangle 5">
            <a:extLst>
              <a:ext uri="{FF2B5EF4-FFF2-40B4-BE49-F238E27FC236}">
                <a16:creationId xmlns:a16="http://schemas.microsoft.com/office/drawing/2014/main" id="{7250849F-9FAE-8C4F-CE83-4E3582E339A0}"/>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96993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8F1142-3DC8-15BB-0659-11E404AC1A83}"/>
              </a:ext>
            </a:extLst>
          </p:cNvPr>
          <p:cNvSpPr txBox="1"/>
          <p:nvPr/>
        </p:nvSpPr>
        <p:spPr>
          <a:xfrm>
            <a:off x="1081669" y="574067"/>
            <a:ext cx="7315200" cy="4049827"/>
          </a:xfrm>
          <a:prstGeom prst="rect">
            <a:avLst/>
          </a:prstGeom>
          <a:noFill/>
        </p:spPr>
        <p:txBody>
          <a:bodyPr wrap="square">
            <a:spAutoFit/>
          </a:bodyPr>
          <a:lstStyle/>
          <a:p>
            <a:pPr>
              <a:lnSpc>
                <a:spcPct val="200000"/>
              </a:lnSpc>
            </a:pPr>
            <a:r>
              <a:rPr lang="en-US" sz="4000" b="1" dirty="0">
                <a:solidFill>
                  <a:srgbClr val="FF0000"/>
                </a:solidFill>
                <a:latin typeface="Corben" pitchFamily="34" charset="0"/>
              </a:rPr>
              <a:t>Use of Dataset</a:t>
            </a:r>
          </a:p>
          <a:p>
            <a:pPr marL="285750" indent="-285750">
              <a:lnSpc>
                <a:spcPct val="200000"/>
              </a:lnSpc>
              <a:buFont typeface="Arial" panose="020B0604020202020204" pitchFamily="34" charset="0"/>
              <a:buChar char="•"/>
            </a:pPr>
            <a:r>
              <a:rPr lang="en-US" sz="1750" dirty="0">
                <a:latin typeface="Barlow" pitchFamily="34" charset="0"/>
              </a:rPr>
              <a:t>Climate dataset is used to study  and rainfall</a:t>
            </a:r>
          </a:p>
          <a:p>
            <a:pPr marL="285750" indent="-285750">
              <a:lnSpc>
                <a:spcPct val="200000"/>
              </a:lnSpc>
              <a:buFont typeface="Arial" panose="020B0604020202020204" pitchFamily="34" charset="0"/>
              <a:buChar char="•"/>
            </a:pPr>
            <a:r>
              <a:rPr lang="en-US" sz="1750" dirty="0">
                <a:latin typeface="Barlow" pitchFamily="34" charset="0"/>
              </a:rPr>
              <a:t>Crop dataset is used to analyze crop yield</a:t>
            </a:r>
          </a:p>
          <a:p>
            <a:pPr marL="285750" indent="-285750">
              <a:lnSpc>
                <a:spcPct val="200000"/>
              </a:lnSpc>
              <a:buFont typeface="Arial" panose="020B0604020202020204" pitchFamily="34" charset="0"/>
              <a:buChar char="•"/>
            </a:pPr>
            <a:r>
              <a:rPr lang="en-US" sz="1750" dirty="0">
                <a:latin typeface="Barlow" pitchFamily="34" charset="0"/>
              </a:rPr>
              <a:t>Past data helps to find patterns and trends</a:t>
            </a:r>
          </a:p>
          <a:p>
            <a:pPr marL="285750" indent="-285750">
              <a:lnSpc>
                <a:spcPct val="200000"/>
              </a:lnSpc>
              <a:buFont typeface="Arial" panose="020B0604020202020204" pitchFamily="34" charset="0"/>
              <a:buChar char="•"/>
            </a:pPr>
            <a:r>
              <a:rPr lang="en-US" sz="1750" dirty="0">
                <a:latin typeface="Barlow" pitchFamily="34" charset="0"/>
              </a:rPr>
              <a:t>Data is combined to understand climate impact on crops</a:t>
            </a:r>
          </a:p>
          <a:p>
            <a:pPr marL="285750" indent="-285750">
              <a:lnSpc>
                <a:spcPct val="200000"/>
              </a:lnSpc>
              <a:buFont typeface="Arial" panose="020B0604020202020204" pitchFamily="34" charset="0"/>
              <a:buChar char="•"/>
            </a:pPr>
            <a:r>
              <a:rPr lang="en-US" sz="1750" dirty="0">
                <a:latin typeface="Barlow" pitchFamily="34" charset="0"/>
              </a:rPr>
              <a:t>Results are shown using charts and graphs</a:t>
            </a:r>
          </a:p>
        </p:txBody>
      </p:sp>
      <p:sp>
        <p:nvSpPr>
          <p:cNvPr id="4" name="TextBox 3">
            <a:extLst>
              <a:ext uri="{FF2B5EF4-FFF2-40B4-BE49-F238E27FC236}">
                <a16:creationId xmlns:a16="http://schemas.microsoft.com/office/drawing/2014/main" id="{03CA04EC-156D-63CB-2CFC-38B33B2D4948}"/>
              </a:ext>
            </a:extLst>
          </p:cNvPr>
          <p:cNvSpPr txBox="1"/>
          <p:nvPr/>
        </p:nvSpPr>
        <p:spPr>
          <a:xfrm>
            <a:off x="1081669" y="4477586"/>
            <a:ext cx="6467707" cy="2895664"/>
          </a:xfrm>
          <a:prstGeom prst="rect">
            <a:avLst/>
          </a:prstGeom>
          <a:noFill/>
        </p:spPr>
        <p:txBody>
          <a:bodyPr wrap="square">
            <a:spAutoFit/>
          </a:bodyPr>
          <a:lstStyle/>
          <a:p>
            <a:pPr>
              <a:lnSpc>
                <a:spcPct val="200000"/>
              </a:lnSpc>
            </a:pPr>
            <a:r>
              <a:rPr lang="en-US" sz="2400" b="1" dirty="0">
                <a:solidFill>
                  <a:srgbClr val="0070C0"/>
                </a:solidFill>
                <a:ea typeface="Spline Sans Bold" pitchFamily="34" charset="-122"/>
              </a:rPr>
              <a:t>Dataset Used</a:t>
            </a:r>
          </a:p>
          <a:p>
            <a:pPr marL="285750" indent="-285750">
              <a:lnSpc>
                <a:spcPct val="200000"/>
              </a:lnSpc>
              <a:buFont typeface="Arial" panose="020B0604020202020204" pitchFamily="34" charset="0"/>
              <a:buChar char="•"/>
            </a:pPr>
            <a:r>
              <a:rPr lang="en-US" sz="1750" dirty="0">
                <a:latin typeface="Barlow" pitchFamily="34" charset="0"/>
              </a:rPr>
              <a:t>The dataset contains both climate and crop data</a:t>
            </a:r>
          </a:p>
          <a:p>
            <a:pPr marL="285750" indent="-285750">
              <a:lnSpc>
                <a:spcPct val="200000"/>
              </a:lnSpc>
              <a:buFont typeface="Arial" panose="020B0604020202020204" pitchFamily="34" charset="0"/>
              <a:buChar char="•"/>
            </a:pPr>
            <a:r>
              <a:rPr lang="en-US" sz="1750" dirty="0">
                <a:latin typeface="Barlow" pitchFamily="34" charset="0"/>
              </a:rPr>
              <a:t>Climate data includes  and rainfall</a:t>
            </a:r>
          </a:p>
          <a:p>
            <a:pPr marL="285750" indent="-285750">
              <a:lnSpc>
                <a:spcPct val="200000"/>
              </a:lnSpc>
              <a:buFont typeface="Arial" panose="020B0604020202020204" pitchFamily="34" charset="0"/>
              <a:buChar char="•"/>
            </a:pPr>
            <a:r>
              <a:rPr lang="en-US" sz="1750" dirty="0">
                <a:latin typeface="Barlow" pitchFamily="34" charset="0"/>
              </a:rPr>
              <a:t>Crop data includes crop type, season, and yield</a:t>
            </a:r>
          </a:p>
          <a:p>
            <a:pPr marL="285750" indent="-285750">
              <a:lnSpc>
                <a:spcPct val="200000"/>
              </a:lnSpc>
              <a:buFont typeface="Arial" panose="020B0604020202020204" pitchFamily="34" charset="0"/>
              <a:buChar char="•"/>
            </a:pPr>
            <a:r>
              <a:rPr lang="en-US" sz="1750" dirty="0">
                <a:latin typeface="Barlow" pitchFamily="34" charset="0"/>
              </a:rPr>
              <a:t>Data is matched by year, season, and region</a:t>
            </a:r>
          </a:p>
        </p:txBody>
      </p:sp>
      <p:sp>
        <p:nvSpPr>
          <p:cNvPr id="5" name="TextBox 4">
            <a:extLst>
              <a:ext uri="{FF2B5EF4-FFF2-40B4-BE49-F238E27FC236}">
                <a16:creationId xmlns:a16="http://schemas.microsoft.com/office/drawing/2014/main" id="{72E3024C-CEC2-0DC9-3A37-29D4C08B97EE}"/>
              </a:ext>
            </a:extLst>
          </p:cNvPr>
          <p:cNvSpPr txBox="1"/>
          <p:nvPr/>
        </p:nvSpPr>
        <p:spPr>
          <a:xfrm>
            <a:off x="8396869" y="914244"/>
            <a:ext cx="5843238" cy="4814460"/>
          </a:xfrm>
          <a:prstGeom prst="rect">
            <a:avLst/>
          </a:prstGeom>
          <a:noFill/>
        </p:spPr>
        <p:txBody>
          <a:bodyPr wrap="square">
            <a:spAutoFit/>
          </a:bodyPr>
          <a:lstStyle/>
          <a:p>
            <a:pPr>
              <a:lnSpc>
                <a:spcPct val="200000"/>
              </a:lnSpc>
              <a:buNone/>
            </a:pPr>
            <a:r>
              <a:rPr lang="en-US" sz="2400" b="1" dirty="0">
                <a:solidFill>
                  <a:srgbClr val="0070C0"/>
                </a:solidFill>
                <a:ea typeface="Spline Sans Bold" pitchFamily="34" charset="-122"/>
              </a:rPr>
              <a:t>Database Structure</a:t>
            </a:r>
          </a:p>
          <a:p>
            <a:pPr marL="285750" indent="-285750">
              <a:lnSpc>
                <a:spcPct val="150000"/>
              </a:lnSpc>
              <a:buFont typeface="Arial" panose="020B0604020202020204" pitchFamily="34" charset="0"/>
              <a:buChar char="•"/>
            </a:pPr>
            <a:r>
              <a:rPr lang="en-US" sz="1750" dirty="0">
                <a:latin typeface="Barlow" pitchFamily="34" charset="0"/>
              </a:rPr>
              <a:t>Single integrated Excel dataset</a:t>
            </a:r>
          </a:p>
          <a:p>
            <a:pPr marL="285750" indent="-285750">
              <a:lnSpc>
                <a:spcPct val="150000"/>
              </a:lnSpc>
              <a:buFont typeface="Arial" panose="020B0604020202020204" pitchFamily="34" charset="0"/>
              <a:buChar char="•"/>
            </a:pPr>
            <a:r>
              <a:rPr lang="en-US" sz="1750" dirty="0">
                <a:latin typeface="Barlow" pitchFamily="34" charset="0"/>
              </a:rPr>
              <a:t>Rows: Large-scale historical records (2.5Lakh+)</a:t>
            </a:r>
          </a:p>
          <a:p>
            <a:pPr marL="285750" indent="-285750">
              <a:lnSpc>
                <a:spcPct val="150000"/>
              </a:lnSpc>
              <a:buFont typeface="Arial" panose="020B0604020202020204" pitchFamily="34" charset="0"/>
              <a:buChar char="•"/>
            </a:pPr>
            <a:r>
              <a:rPr lang="en-US" sz="1750" dirty="0">
                <a:latin typeface="Barlow" pitchFamily="34" charset="0"/>
              </a:rPr>
              <a:t>Columns include:</a:t>
            </a:r>
          </a:p>
          <a:p>
            <a:pPr marL="742950" lvl="1" indent="-285750">
              <a:lnSpc>
                <a:spcPct val="150000"/>
              </a:lnSpc>
              <a:buFont typeface="Arial" panose="020B0604020202020204" pitchFamily="34" charset="0"/>
              <a:buChar char="•"/>
            </a:pPr>
            <a:r>
              <a:rPr lang="en-US" sz="1750" dirty="0">
                <a:latin typeface="Barlow" pitchFamily="34" charset="0"/>
              </a:rPr>
              <a:t>Year</a:t>
            </a:r>
          </a:p>
          <a:p>
            <a:pPr marL="742950" lvl="1" indent="-285750">
              <a:lnSpc>
                <a:spcPct val="150000"/>
              </a:lnSpc>
              <a:buFont typeface="Arial" panose="020B0604020202020204" pitchFamily="34" charset="0"/>
              <a:buChar char="•"/>
            </a:pPr>
            <a:r>
              <a:rPr lang="en-US" sz="1750" dirty="0">
                <a:latin typeface="Barlow" pitchFamily="34" charset="0"/>
              </a:rPr>
              <a:t>Season</a:t>
            </a:r>
          </a:p>
          <a:p>
            <a:pPr marL="742950" lvl="1" indent="-285750">
              <a:lnSpc>
                <a:spcPct val="150000"/>
              </a:lnSpc>
              <a:buFont typeface="Arial" panose="020B0604020202020204" pitchFamily="34" charset="0"/>
              <a:buChar char="•"/>
            </a:pPr>
            <a:r>
              <a:rPr lang="en-US" sz="1750" dirty="0">
                <a:latin typeface="Barlow" pitchFamily="34" charset="0"/>
              </a:rPr>
              <a:t>Region</a:t>
            </a:r>
          </a:p>
          <a:p>
            <a:pPr marL="742950" lvl="1" indent="-285750">
              <a:lnSpc>
                <a:spcPct val="150000"/>
              </a:lnSpc>
              <a:buFont typeface="Arial" panose="020B0604020202020204" pitchFamily="34" charset="0"/>
              <a:buChar char="•"/>
            </a:pPr>
            <a:endParaRPr lang="en-US" sz="1750" dirty="0">
              <a:latin typeface="Barlow" pitchFamily="34" charset="0"/>
            </a:endParaRPr>
          </a:p>
          <a:p>
            <a:pPr marL="742950" lvl="1" indent="-285750">
              <a:lnSpc>
                <a:spcPct val="150000"/>
              </a:lnSpc>
              <a:buFont typeface="Arial" panose="020B0604020202020204" pitchFamily="34" charset="0"/>
              <a:buChar char="•"/>
            </a:pPr>
            <a:r>
              <a:rPr lang="en-US" sz="1750" dirty="0">
                <a:latin typeface="Barlow" pitchFamily="34" charset="0"/>
              </a:rPr>
              <a:t>Rainfall</a:t>
            </a:r>
          </a:p>
          <a:p>
            <a:pPr marL="742950" lvl="1" indent="-285750">
              <a:lnSpc>
                <a:spcPct val="150000"/>
              </a:lnSpc>
              <a:buFont typeface="Arial" panose="020B0604020202020204" pitchFamily="34" charset="0"/>
              <a:buChar char="•"/>
            </a:pPr>
            <a:r>
              <a:rPr lang="en-US" sz="1750" dirty="0">
                <a:latin typeface="Barlow" pitchFamily="34" charset="0"/>
              </a:rPr>
              <a:t>Crop Name</a:t>
            </a:r>
          </a:p>
          <a:p>
            <a:pPr marL="742950" lvl="1" indent="-285750">
              <a:lnSpc>
                <a:spcPct val="150000"/>
              </a:lnSpc>
              <a:buFont typeface="Arial" panose="020B0604020202020204" pitchFamily="34" charset="0"/>
              <a:buChar char="•"/>
            </a:pPr>
            <a:r>
              <a:rPr lang="en-US" sz="1750" dirty="0">
                <a:latin typeface="Barlow" pitchFamily="34" charset="0"/>
              </a:rPr>
              <a:t>Crop Yield</a:t>
            </a:r>
          </a:p>
        </p:txBody>
      </p:sp>
      <p:sp>
        <p:nvSpPr>
          <p:cNvPr id="6" name="Rectangle 5">
            <a:extLst>
              <a:ext uri="{FF2B5EF4-FFF2-40B4-BE49-F238E27FC236}">
                <a16:creationId xmlns:a16="http://schemas.microsoft.com/office/drawing/2014/main" id="{8EF92E8C-EA04-59E3-39CF-508A270E99C6}"/>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86813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23768"/>
            <a:ext cx="6505099" cy="708779"/>
          </a:xfrm>
          <a:prstGeom prst="rect">
            <a:avLst/>
          </a:prstGeom>
          <a:noFill/>
          <a:ln/>
        </p:spPr>
        <p:txBody>
          <a:bodyPr wrap="none" lIns="0" tIns="0" rIns="0" bIns="0" rtlCol="0" anchor="t"/>
          <a:lstStyle/>
          <a:p>
            <a:pPr marL="0" indent="0" algn="l">
              <a:lnSpc>
                <a:spcPts val="5550"/>
              </a:lnSpc>
              <a:buNone/>
            </a:pPr>
            <a:r>
              <a:rPr lang="en-US" sz="4450" b="1" dirty="0">
                <a:solidFill>
                  <a:srgbClr val="FF0000"/>
                </a:solidFill>
                <a:latin typeface="Corben" pitchFamily="34" charset="0"/>
                <a:ea typeface="Corben" pitchFamily="34" charset="-122"/>
                <a:cs typeface="Corben" pitchFamily="34" charset="-120"/>
              </a:rPr>
              <a:t>Dataset &amp; Preprocessing</a:t>
            </a:r>
            <a:endParaRPr lang="en-US" sz="4450" b="1" dirty="0">
              <a:solidFill>
                <a:srgbClr val="FF0000"/>
              </a:solidFill>
            </a:endParaRPr>
          </a:p>
        </p:txBody>
      </p:sp>
      <p:sp>
        <p:nvSpPr>
          <p:cNvPr id="3" name="Text 1"/>
          <p:cNvSpPr/>
          <p:nvPr/>
        </p:nvSpPr>
        <p:spPr>
          <a:xfrm>
            <a:off x="793790" y="1899523"/>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1B1B27"/>
                </a:solidFill>
                <a:latin typeface="Corben" pitchFamily="34" charset="0"/>
                <a:ea typeface="Corben" pitchFamily="34" charset="-122"/>
                <a:cs typeface="Corben" pitchFamily="34" charset="-120"/>
              </a:rPr>
              <a:t>Climate Dataset</a:t>
            </a:r>
            <a:endParaRPr lang="en-US" sz="2650" dirty="0"/>
          </a:p>
        </p:txBody>
      </p:sp>
      <p:sp>
        <p:nvSpPr>
          <p:cNvPr id="4" name="Text 2"/>
          <p:cNvSpPr/>
          <p:nvPr/>
        </p:nvSpPr>
        <p:spPr>
          <a:xfrm>
            <a:off x="793790" y="2551628"/>
            <a:ext cx="6244709" cy="145169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 records (daily/seasonal)</a:t>
            </a:r>
            <a:endParaRPr lang="en-US" sz="1750" dirty="0"/>
          </a:p>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Precipitation measurements</a:t>
            </a:r>
            <a:endParaRPr lang="en-US" sz="1750" dirty="0"/>
          </a:p>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Year-wise historical data</a:t>
            </a:r>
            <a:endParaRPr lang="en-US" sz="1750" dirty="0"/>
          </a:p>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Regional geographic coordinates</a:t>
            </a:r>
            <a:endParaRPr lang="en-US" sz="1750" dirty="0"/>
          </a:p>
        </p:txBody>
      </p:sp>
      <p:sp>
        <p:nvSpPr>
          <p:cNvPr id="5" name="Text 3"/>
          <p:cNvSpPr/>
          <p:nvPr/>
        </p:nvSpPr>
        <p:spPr>
          <a:xfrm>
            <a:off x="7599521" y="1899523"/>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1B1B27"/>
                </a:solidFill>
                <a:latin typeface="Corben" pitchFamily="34" charset="0"/>
                <a:ea typeface="Corben" pitchFamily="34" charset="-122"/>
                <a:cs typeface="Corben" pitchFamily="34" charset="-120"/>
              </a:rPr>
              <a:t>Crop Dataset</a:t>
            </a:r>
            <a:endParaRPr lang="en-US" sz="2650" dirty="0"/>
          </a:p>
        </p:txBody>
      </p:sp>
      <p:sp>
        <p:nvSpPr>
          <p:cNvPr id="6" name="Text 4"/>
          <p:cNvSpPr/>
          <p:nvPr/>
        </p:nvSpPr>
        <p:spPr>
          <a:xfrm>
            <a:off x="7599521" y="2551628"/>
            <a:ext cx="6244709" cy="145169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Crop type classification</a:t>
            </a:r>
            <a:endParaRPr lang="en-US" sz="1750" dirty="0"/>
          </a:p>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Seasonal planting cycles</a:t>
            </a:r>
            <a:endParaRPr lang="en-US" sz="1750" dirty="0"/>
          </a:p>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Yield per acre measurements</a:t>
            </a:r>
            <a:endParaRPr lang="en-US" sz="1750" dirty="0"/>
          </a:p>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Geographic region mapping</a:t>
            </a:r>
            <a:endParaRPr lang="en-US" sz="1750" dirty="0"/>
          </a:p>
        </p:txBody>
      </p:sp>
      <p:sp>
        <p:nvSpPr>
          <p:cNvPr id="7" name="Shape 5"/>
          <p:cNvSpPr/>
          <p:nvPr/>
        </p:nvSpPr>
        <p:spPr>
          <a:xfrm>
            <a:off x="1133951" y="5007231"/>
            <a:ext cx="3856077" cy="226814"/>
          </a:xfrm>
          <a:prstGeom prst="roundRect">
            <a:avLst>
              <a:gd name="adj" fmla="val 42003"/>
            </a:avLst>
          </a:prstGeom>
          <a:solidFill>
            <a:srgbClr val="D2D9F9"/>
          </a:solidFill>
          <a:ln w="7620">
            <a:solidFill>
              <a:srgbClr val="B8BFDF"/>
            </a:solidFill>
            <a:prstDash val="solid"/>
          </a:ln>
        </p:spPr>
      </p:sp>
      <p:sp>
        <p:nvSpPr>
          <p:cNvPr id="8" name="Shape 6"/>
          <p:cNvSpPr/>
          <p:nvPr/>
        </p:nvSpPr>
        <p:spPr>
          <a:xfrm>
            <a:off x="793790" y="4780358"/>
            <a:ext cx="680442" cy="680442"/>
          </a:xfrm>
          <a:prstGeom prst="roundRect">
            <a:avLst>
              <a:gd name="adj" fmla="val 67192"/>
            </a:avLst>
          </a:prstGeom>
          <a:solidFill>
            <a:srgbClr val="D2D9F9"/>
          </a:solidFill>
          <a:ln w="7620">
            <a:solidFill>
              <a:srgbClr val="B8BFDF"/>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3930" y="4950498"/>
            <a:ext cx="340162" cy="340162"/>
          </a:xfrm>
          <a:prstGeom prst="rect">
            <a:avLst/>
          </a:prstGeom>
        </p:spPr>
      </p:pic>
      <p:sp>
        <p:nvSpPr>
          <p:cNvPr id="10" name="Text 7"/>
          <p:cNvSpPr/>
          <p:nvPr/>
        </p:nvSpPr>
        <p:spPr>
          <a:xfrm>
            <a:off x="1020604" y="5687673"/>
            <a:ext cx="3218498"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Missing Value Handling</a:t>
            </a:r>
            <a:endParaRPr lang="en-US" sz="2200" dirty="0"/>
          </a:p>
        </p:txBody>
      </p:sp>
      <p:sp>
        <p:nvSpPr>
          <p:cNvPr id="11" name="Text 8"/>
          <p:cNvSpPr/>
          <p:nvPr/>
        </p:nvSpPr>
        <p:spPr>
          <a:xfrm>
            <a:off x="1020604" y="6178092"/>
            <a:ext cx="3742730" cy="725805"/>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Imputation and data quality assessment</a:t>
            </a:r>
            <a:endParaRPr lang="en-US" sz="1750" dirty="0"/>
          </a:p>
        </p:txBody>
      </p:sp>
      <p:sp>
        <p:nvSpPr>
          <p:cNvPr id="12" name="Shape 9"/>
          <p:cNvSpPr/>
          <p:nvPr/>
        </p:nvSpPr>
        <p:spPr>
          <a:xfrm>
            <a:off x="5557123" y="4666951"/>
            <a:ext cx="3856077" cy="226814"/>
          </a:xfrm>
          <a:prstGeom prst="roundRect">
            <a:avLst>
              <a:gd name="adj" fmla="val 42003"/>
            </a:avLst>
          </a:prstGeom>
          <a:solidFill>
            <a:srgbClr val="D2D9F9"/>
          </a:solidFill>
          <a:ln w="7620">
            <a:solidFill>
              <a:srgbClr val="B8BFDF"/>
            </a:solidFill>
            <a:prstDash val="solid"/>
          </a:ln>
        </p:spPr>
      </p:sp>
      <p:sp>
        <p:nvSpPr>
          <p:cNvPr id="13" name="Shape 10"/>
          <p:cNvSpPr/>
          <p:nvPr/>
        </p:nvSpPr>
        <p:spPr>
          <a:xfrm>
            <a:off x="5216962" y="4440077"/>
            <a:ext cx="680442" cy="680442"/>
          </a:xfrm>
          <a:prstGeom prst="roundRect">
            <a:avLst>
              <a:gd name="adj" fmla="val 67192"/>
            </a:avLst>
          </a:prstGeom>
          <a:solidFill>
            <a:srgbClr val="D2D9F9"/>
          </a:solidFill>
          <a:ln w="7620">
            <a:solidFill>
              <a:srgbClr val="B8BFDF"/>
            </a:solidFill>
            <a:prstDash val="solid"/>
          </a:ln>
        </p:spPr>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87102" y="4610217"/>
            <a:ext cx="340162" cy="340162"/>
          </a:xfrm>
          <a:prstGeom prst="rect">
            <a:avLst/>
          </a:prstGeom>
        </p:spPr>
      </p:pic>
      <p:sp>
        <p:nvSpPr>
          <p:cNvPr id="15" name="Text 11"/>
          <p:cNvSpPr/>
          <p:nvPr/>
        </p:nvSpPr>
        <p:spPr>
          <a:xfrm>
            <a:off x="5443776" y="53473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Normalization</a:t>
            </a:r>
            <a:endParaRPr lang="en-US" sz="2200" dirty="0"/>
          </a:p>
        </p:txBody>
      </p:sp>
      <p:sp>
        <p:nvSpPr>
          <p:cNvPr id="16" name="Text 12"/>
          <p:cNvSpPr/>
          <p:nvPr/>
        </p:nvSpPr>
        <p:spPr>
          <a:xfrm>
            <a:off x="5443776" y="5837811"/>
            <a:ext cx="3742730" cy="362903"/>
          </a:xfrm>
          <a:prstGeom prst="rect">
            <a:avLst/>
          </a:prstGeom>
          <a:noFill/>
          <a:ln/>
        </p:spPr>
        <p:txBody>
          <a:bodyPr wrap="non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Standardization across datasets</a:t>
            </a:r>
            <a:endParaRPr lang="en-US" sz="1750" dirty="0"/>
          </a:p>
        </p:txBody>
      </p:sp>
      <p:sp>
        <p:nvSpPr>
          <p:cNvPr id="17" name="Shape 13"/>
          <p:cNvSpPr/>
          <p:nvPr/>
        </p:nvSpPr>
        <p:spPr>
          <a:xfrm>
            <a:off x="9980295" y="4326789"/>
            <a:ext cx="3856077" cy="226814"/>
          </a:xfrm>
          <a:prstGeom prst="roundRect">
            <a:avLst>
              <a:gd name="adj" fmla="val 42003"/>
            </a:avLst>
          </a:prstGeom>
          <a:solidFill>
            <a:srgbClr val="D2D9F9"/>
          </a:solidFill>
          <a:ln w="7620">
            <a:solidFill>
              <a:srgbClr val="B8BFDF"/>
            </a:solidFill>
            <a:prstDash val="solid"/>
          </a:ln>
        </p:spPr>
      </p:sp>
      <p:sp>
        <p:nvSpPr>
          <p:cNvPr id="18" name="Shape 14"/>
          <p:cNvSpPr/>
          <p:nvPr/>
        </p:nvSpPr>
        <p:spPr>
          <a:xfrm>
            <a:off x="9640133" y="4099915"/>
            <a:ext cx="680442" cy="680442"/>
          </a:xfrm>
          <a:prstGeom prst="roundRect">
            <a:avLst>
              <a:gd name="adj" fmla="val 67192"/>
            </a:avLst>
          </a:prstGeom>
          <a:solidFill>
            <a:srgbClr val="D2D9F9"/>
          </a:solidFill>
          <a:ln w="7620">
            <a:solidFill>
              <a:srgbClr val="B8BFDF"/>
            </a:solidFill>
            <a:prstDash val="solid"/>
          </a:ln>
        </p:spPr>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10274" y="4270056"/>
            <a:ext cx="340162" cy="340162"/>
          </a:xfrm>
          <a:prstGeom prst="rect">
            <a:avLst/>
          </a:prstGeom>
        </p:spPr>
      </p:pic>
      <p:sp>
        <p:nvSpPr>
          <p:cNvPr id="20" name="Text 15"/>
          <p:cNvSpPr/>
          <p:nvPr/>
        </p:nvSpPr>
        <p:spPr>
          <a:xfrm>
            <a:off x="9866948" y="500723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Data Integration</a:t>
            </a:r>
            <a:endParaRPr lang="en-US" sz="2200" dirty="0"/>
          </a:p>
        </p:txBody>
      </p:sp>
      <p:sp>
        <p:nvSpPr>
          <p:cNvPr id="21" name="Text 16"/>
          <p:cNvSpPr/>
          <p:nvPr/>
        </p:nvSpPr>
        <p:spPr>
          <a:xfrm>
            <a:off x="9866948" y="5497650"/>
            <a:ext cx="3742730" cy="725805"/>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Unified temporal-spatial framework</a:t>
            </a:r>
            <a:endParaRPr lang="en-US" sz="1750" dirty="0"/>
          </a:p>
        </p:txBody>
      </p:sp>
      <p:sp>
        <p:nvSpPr>
          <p:cNvPr id="22" name="Rectangle 21">
            <a:extLst>
              <a:ext uri="{FF2B5EF4-FFF2-40B4-BE49-F238E27FC236}">
                <a16:creationId xmlns:a16="http://schemas.microsoft.com/office/drawing/2014/main" id="{6D976C68-0F72-7925-E888-3E9595C524F3}"/>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89" y="484561"/>
            <a:ext cx="8562083" cy="708779"/>
          </a:xfrm>
          <a:prstGeom prst="rect">
            <a:avLst/>
          </a:prstGeom>
          <a:noFill/>
          <a:ln/>
        </p:spPr>
        <p:txBody>
          <a:bodyPr wrap="none" lIns="0" tIns="0" rIns="0" bIns="0" rtlCol="0" anchor="t"/>
          <a:lstStyle/>
          <a:p>
            <a:pPr marL="0" indent="0" algn="l">
              <a:lnSpc>
                <a:spcPts val="5550"/>
              </a:lnSpc>
              <a:buNone/>
            </a:pPr>
            <a:r>
              <a:rPr lang="en-US" sz="4450" b="1" dirty="0">
                <a:solidFill>
                  <a:srgbClr val="FF0000"/>
                </a:solidFill>
                <a:latin typeface="Corben" pitchFamily="34" charset="0"/>
                <a:ea typeface="Corben" pitchFamily="34" charset="-122"/>
                <a:cs typeface="Corben" pitchFamily="34" charset="-120"/>
              </a:rPr>
              <a:t>System Architecture / Visuals</a:t>
            </a:r>
            <a:endParaRPr lang="en-US" sz="4450" b="1" dirty="0">
              <a:solidFill>
                <a:srgbClr val="FF0000"/>
              </a:solidFill>
            </a:endParaRPr>
          </a:p>
        </p:txBody>
      </p:sp>
      <p:sp>
        <p:nvSpPr>
          <p:cNvPr id="4" name="Rectangle 3">
            <a:extLst>
              <a:ext uri="{FF2B5EF4-FFF2-40B4-BE49-F238E27FC236}">
                <a16:creationId xmlns:a16="http://schemas.microsoft.com/office/drawing/2014/main" id="{D87A8640-C5E5-76AD-6C48-99890E5E13BB}"/>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16A6A376-ABBF-D52A-588A-D7985D82701E}"/>
              </a:ext>
            </a:extLst>
          </p:cNvPr>
          <p:cNvPicPr>
            <a:picLocks noChangeAspect="1"/>
          </p:cNvPicPr>
          <p:nvPr/>
        </p:nvPicPr>
        <p:blipFill>
          <a:blip r:embed="rId2"/>
          <a:stretch>
            <a:fillRect/>
          </a:stretch>
        </p:blipFill>
        <p:spPr>
          <a:xfrm>
            <a:off x="1143000" y="1449658"/>
            <a:ext cx="12344400" cy="6250776"/>
          </a:xfrm>
          <a:prstGeom prst="rect">
            <a:avLst/>
          </a:prstGeom>
        </p:spPr>
      </p:pic>
    </p:spTree>
    <p:extLst>
      <p:ext uri="{BB962C8B-B14F-4D97-AF65-F5344CB8AC3E}">
        <p14:creationId xmlns:p14="http://schemas.microsoft.com/office/powerpoint/2010/main" val="3054670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4" name="Image 0" descr="preencoded.png">
            <a:extLst>
              <a:ext uri="{FF2B5EF4-FFF2-40B4-BE49-F238E27FC236}">
                <a16:creationId xmlns:a16="http://schemas.microsoft.com/office/drawing/2014/main" id="{FC579C4A-91D3-1803-A553-050B284E786E}"/>
              </a:ext>
            </a:extLst>
          </p:cNvPr>
          <p:cNvPicPr>
            <a:picLocks noChangeAspect="1"/>
          </p:cNvPicPr>
          <p:nvPr/>
        </p:nvPicPr>
        <p:blipFill>
          <a:blip r:embed="rId3"/>
          <a:stretch>
            <a:fillRect/>
          </a:stretch>
        </p:blipFill>
        <p:spPr>
          <a:xfrm>
            <a:off x="0" y="0"/>
            <a:ext cx="14630400" cy="2229326"/>
          </a:xfrm>
          <a:prstGeom prst="rect">
            <a:avLst/>
          </a:prstGeom>
        </p:spPr>
      </p:pic>
      <p:sp>
        <p:nvSpPr>
          <p:cNvPr id="26" name="TextBox 25">
            <a:extLst>
              <a:ext uri="{FF2B5EF4-FFF2-40B4-BE49-F238E27FC236}">
                <a16:creationId xmlns:a16="http://schemas.microsoft.com/office/drawing/2014/main" id="{E0ED7855-DF54-A3D0-DA17-4CC82A8290E8}"/>
              </a:ext>
            </a:extLst>
          </p:cNvPr>
          <p:cNvSpPr txBox="1"/>
          <p:nvPr/>
        </p:nvSpPr>
        <p:spPr>
          <a:xfrm>
            <a:off x="1349297" y="3887992"/>
            <a:ext cx="7315200" cy="2769989"/>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dirty="0">
                <a:latin typeface="Barlow" pitchFamily="34" charset="0"/>
              </a:rPr>
              <a:t>Climate patterns like rainfall were clearly observed</a:t>
            </a:r>
          </a:p>
          <a:p>
            <a:pPr marL="285750" indent="-285750">
              <a:lnSpc>
                <a:spcPct val="200000"/>
              </a:lnSpc>
              <a:buFont typeface="Arial" panose="020B0604020202020204" pitchFamily="34" charset="0"/>
              <a:buChar char="•"/>
            </a:pPr>
            <a:r>
              <a:rPr lang="en-US" dirty="0">
                <a:latin typeface="Barlow" pitchFamily="34" charset="0"/>
              </a:rPr>
              <a:t>Crop yield changes were linked with climate variations</a:t>
            </a:r>
          </a:p>
          <a:p>
            <a:pPr marL="285750" indent="-285750">
              <a:lnSpc>
                <a:spcPct val="200000"/>
              </a:lnSpc>
              <a:buFont typeface="Arial" panose="020B0604020202020204" pitchFamily="34" charset="0"/>
              <a:buChar char="•"/>
            </a:pPr>
            <a:r>
              <a:rPr lang="en-US" dirty="0">
                <a:latin typeface="Barlow" pitchFamily="34" charset="0"/>
              </a:rPr>
              <a:t>Trends and patterns were identified using charts and graphs</a:t>
            </a:r>
          </a:p>
          <a:p>
            <a:pPr marL="285750" indent="-285750">
              <a:lnSpc>
                <a:spcPct val="200000"/>
              </a:lnSpc>
              <a:buFont typeface="Arial" panose="020B0604020202020204" pitchFamily="34" charset="0"/>
              <a:buChar char="•"/>
            </a:pPr>
            <a:r>
              <a:rPr lang="en-US" dirty="0">
                <a:latin typeface="Barlow" pitchFamily="34" charset="0"/>
              </a:rPr>
              <a:t>The analysis showed how climate change affects agriculture</a:t>
            </a:r>
          </a:p>
          <a:p>
            <a:pPr marL="285750" indent="-285750">
              <a:lnSpc>
                <a:spcPct val="200000"/>
              </a:lnSpc>
              <a:buFont typeface="Arial" panose="020B0604020202020204" pitchFamily="34" charset="0"/>
              <a:buChar char="•"/>
            </a:pPr>
            <a:r>
              <a:rPr lang="en-US" dirty="0">
                <a:latin typeface="Barlow" pitchFamily="34" charset="0"/>
              </a:rPr>
              <a:t>Results provide useful insights for better farming decisions</a:t>
            </a:r>
          </a:p>
        </p:txBody>
      </p:sp>
      <p:sp>
        <p:nvSpPr>
          <p:cNvPr id="27" name="TextBox 26">
            <a:extLst>
              <a:ext uri="{FF2B5EF4-FFF2-40B4-BE49-F238E27FC236}">
                <a16:creationId xmlns:a16="http://schemas.microsoft.com/office/drawing/2014/main" id="{DE77315D-FA9B-A75B-AD7C-1026A3E6C6B9}"/>
              </a:ext>
            </a:extLst>
          </p:cNvPr>
          <p:cNvSpPr txBox="1"/>
          <p:nvPr/>
        </p:nvSpPr>
        <p:spPr>
          <a:xfrm>
            <a:off x="1170879" y="3036123"/>
            <a:ext cx="7315200" cy="784830"/>
          </a:xfrm>
          <a:prstGeom prst="rect">
            <a:avLst/>
          </a:prstGeom>
          <a:noFill/>
        </p:spPr>
        <p:txBody>
          <a:bodyPr wrap="square">
            <a:spAutoFit/>
          </a:bodyPr>
          <a:lstStyle/>
          <a:p>
            <a:pPr>
              <a:lnSpc>
                <a:spcPts val="5400"/>
              </a:lnSpc>
            </a:pPr>
            <a:r>
              <a:rPr lang="en-US" sz="4450" b="1" dirty="0">
                <a:solidFill>
                  <a:srgbClr val="FF0000"/>
                </a:solidFill>
                <a:latin typeface="Corben" pitchFamily="34" charset="0"/>
              </a:rPr>
              <a:t>Outcomes / Results</a:t>
            </a:r>
          </a:p>
        </p:txBody>
      </p:sp>
      <p:sp>
        <p:nvSpPr>
          <p:cNvPr id="28" name="Rectangle 27">
            <a:extLst>
              <a:ext uri="{FF2B5EF4-FFF2-40B4-BE49-F238E27FC236}">
                <a16:creationId xmlns:a16="http://schemas.microsoft.com/office/drawing/2014/main" id="{E20A94DC-AB14-3E73-ED2A-250F8ACB678F}"/>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0406E1-2CD1-393D-C8A7-FF85C44C2625}"/>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33623C25-46DD-CAC1-83B3-F8305E541BAE}"/>
              </a:ext>
            </a:extLst>
          </p:cNvPr>
          <p:cNvSpPr txBox="1"/>
          <p:nvPr/>
        </p:nvSpPr>
        <p:spPr>
          <a:xfrm>
            <a:off x="963185" y="319009"/>
            <a:ext cx="11697629" cy="784830"/>
          </a:xfrm>
          <a:prstGeom prst="rect">
            <a:avLst/>
          </a:prstGeom>
          <a:noFill/>
        </p:spPr>
        <p:txBody>
          <a:bodyPr wrap="square">
            <a:spAutoFit/>
          </a:bodyPr>
          <a:lstStyle/>
          <a:p>
            <a:pPr>
              <a:lnSpc>
                <a:spcPts val="5400"/>
              </a:lnSpc>
            </a:pPr>
            <a:r>
              <a:rPr lang="en-US" sz="4450" b="1" dirty="0">
                <a:solidFill>
                  <a:srgbClr val="FF0000"/>
                </a:solidFill>
                <a:latin typeface="Corben" pitchFamily="34" charset="0"/>
              </a:rPr>
              <a:t>Galaxy / fact Constellation </a:t>
            </a:r>
            <a:r>
              <a:rPr lang="en-IN" sz="4450" b="1" dirty="0">
                <a:solidFill>
                  <a:srgbClr val="FF0000"/>
                </a:solidFill>
                <a:latin typeface="Corben" pitchFamily="34" charset="0"/>
              </a:rPr>
              <a:t>Schema </a:t>
            </a:r>
            <a:endParaRPr lang="en-US" sz="4450" b="1" dirty="0">
              <a:solidFill>
                <a:srgbClr val="FF0000"/>
              </a:solidFill>
              <a:latin typeface="Corben" pitchFamily="34" charset="0"/>
            </a:endParaRPr>
          </a:p>
        </p:txBody>
      </p:sp>
      <p:pic>
        <p:nvPicPr>
          <p:cNvPr id="5" name="Picture 4">
            <a:extLst>
              <a:ext uri="{FF2B5EF4-FFF2-40B4-BE49-F238E27FC236}">
                <a16:creationId xmlns:a16="http://schemas.microsoft.com/office/drawing/2014/main" id="{3A94F17B-43A6-F30D-C131-468BE9841171}"/>
              </a:ext>
            </a:extLst>
          </p:cNvPr>
          <p:cNvPicPr>
            <a:picLocks noChangeAspect="1"/>
          </p:cNvPicPr>
          <p:nvPr/>
        </p:nvPicPr>
        <p:blipFill>
          <a:blip r:embed="rId2"/>
          <a:srcRect l="3228"/>
          <a:stretch>
            <a:fillRect/>
          </a:stretch>
        </p:blipFill>
        <p:spPr>
          <a:xfrm>
            <a:off x="646771" y="2271500"/>
            <a:ext cx="13537581" cy="5673138"/>
          </a:xfrm>
          <a:prstGeom prst="rect">
            <a:avLst/>
          </a:prstGeom>
        </p:spPr>
      </p:pic>
      <p:sp>
        <p:nvSpPr>
          <p:cNvPr id="7" name="TextBox 6">
            <a:extLst>
              <a:ext uri="{FF2B5EF4-FFF2-40B4-BE49-F238E27FC236}">
                <a16:creationId xmlns:a16="http://schemas.microsoft.com/office/drawing/2014/main" id="{E9DD7A66-B0C4-BFF3-74CC-DA01EEFA3C32}"/>
              </a:ext>
            </a:extLst>
          </p:cNvPr>
          <p:cNvSpPr txBox="1"/>
          <p:nvPr/>
        </p:nvSpPr>
        <p:spPr>
          <a:xfrm>
            <a:off x="963185" y="1150465"/>
            <a:ext cx="13122199" cy="1027782"/>
          </a:xfrm>
          <a:prstGeom prst="rect">
            <a:avLst/>
          </a:prstGeom>
          <a:noFill/>
        </p:spPr>
        <p:txBody>
          <a:bodyPr wrap="square">
            <a:spAutoFit/>
          </a:bodyPr>
          <a:lstStyle/>
          <a:p>
            <a:pPr algn="just">
              <a:lnSpc>
                <a:spcPct val="115000"/>
              </a:lnSpc>
              <a:spcAft>
                <a:spcPts val="800"/>
              </a:spcAft>
              <a:buNone/>
            </a:pPr>
            <a:r>
              <a:rPr lang="en-IN" dirty="0">
                <a:ea typeface="Calibri" panose="020F0502020204030204" pitchFamily="34" charset="0"/>
              </a:rPr>
              <a:t>To support multiple analytical processes within the agricultural data warehouse, a Fact Constellation (Galaxy) Schema was designed. In this schema, multiple fact tables—</a:t>
            </a:r>
            <a:r>
              <a:rPr lang="en-IN" dirty="0" err="1">
                <a:ea typeface="Calibri" panose="020F0502020204030204" pitchFamily="34" charset="0"/>
              </a:rPr>
              <a:t>Fact_Crop_Production</a:t>
            </a:r>
            <a:r>
              <a:rPr lang="en-IN" dirty="0">
                <a:ea typeface="Calibri" panose="020F0502020204030204" pitchFamily="34" charset="0"/>
              </a:rPr>
              <a:t>, </a:t>
            </a:r>
            <a:r>
              <a:rPr lang="en-IN" dirty="0" err="1">
                <a:ea typeface="Calibri" panose="020F0502020204030204" pitchFamily="34" charset="0"/>
              </a:rPr>
              <a:t>Fact_Crop_Area</a:t>
            </a:r>
            <a:r>
              <a:rPr lang="en-IN" dirty="0">
                <a:ea typeface="Calibri" panose="020F0502020204030204" pitchFamily="34" charset="0"/>
              </a:rPr>
              <a:t>, and </a:t>
            </a:r>
            <a:r>
              <a:rPr lang="en-IN" dirty="0" err="1">
                <a:ea typeface="Calibri" panose="020F0502020204030204" pitchFamily="34" charset="0"/>
              </a:rPr>
              <a:t>Fact_Rainfall</a:t>
            </a:r>
            <a:r>
              <a:rPr lang="en-IN" dirty="0">
                <a:ea typeface="Calibri" panose="020F0502020204030204" pitchFamily="34" charset="0"/>
              </a:rPr>
              <a:t>—share common conformed dimension tables such as Crop, Time, Season, and Location (District and State).</a:t>
            </a:r>
          </a:p>
        </p:txBody>
      </p:sp>
    </p:spTree>
    <p:extLst>
      <p:ext uri="{BB962C8B-B14F-4D97-AF65-F5344CB8AC3E}">
        <p14:creationId xmlns:p14="http://schemas.microsoft.com/office/powerpoint/2010/main" val="2102255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8B166D-EEDF-B8FB-68C7-094E680AC63F}"/>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EFD91DE-41F7-0F83-E051-228217AAD2C9}"/>
              </a:ext>
            </a:extLst>
          </p:cNvPr>
          <p:cNvSpPr txBox="1"/>
          <p:nvPr/>
        </p:nvSpPr>
        <p:spPr>
          <a:xfrm>
            <a:off x="936701" y="390341"/>
            <a:ext cx="11697629" cy="784830"/>
          </a:xfrm>
          <a:prstGeom prst="rect">
            <a:avLst/>
          </a:prstGeom>
          <a:noFill/>
        </p:spPr>
        <p:txBody>
          <a:bodyPr wrap="square">
            <a:spAutoFit/>
          </a:bodyPr>
          <a:lstStyle/>
          <a:p>
            <a:pPr>
              <a:lnSpc>
                <a:spcPts val="5400"/>
              </a:lnSpc>
            </a:pPr>
            <a:r>
              <a:rPr lang="en-IN" sz="4450" b="1" dirty="0">
                <a:solidFill>
                  <a:srgbClr val="FF0000"/>
                </a:solidFill>
                <a:latin typeface="Corben" pitchFamily="34" charset="0"/>
              </a:rPr>
              <a:t>Visualization</a:t>
            </a:r>
            <a:endParaRPr lang="en-US" sz="4450" b="1" dirty="0">
              <a:solidFill>
                <a:srgbClr val="FF0000"/>
              </a:solidFill>
              <a:latin typeface="Corben" pitchFamily="34" charset="0"/>
            </a:endParaRPr>
          </a:p>
        </p:txBody>
      </p:sp>
      <p:pic>
        <p:nvPicPr>
          <p:cNvPr id="6" name="Picture 5">
            <a:extLst>
              <a:ext uri="{FF2B5EF4-FFF2-40B4-BE49-F238E27FC236}">
                <a16:creationId xmlns:a16="http://schemas.microsoft.com/office/drawing/2014/main" id="{3534FBBB-27AD-8862-74EE-A12C27D85441}"/>
              </a:ext>
            </a:extLst>
          </p:cNvPr>
          <p:cNvPicPr>
            <a:picLocks noChangeAspect="1"/>
          </p:cNvPicPr>
          <p:nvPr/>
        </p:nvPicPr>
        <p:blipFill>
          <a:blip r:embed="rId2"/>
          <a:stretch>
            <a:fillRect/>
          </a:stretch>
        </p:blipFill>
        <p:spPr>
          <a:xfrm>
            <a:off x="1147961" y="1282389"/>
            <a:ext cx="12334477" cy="6467709"/>
          </a:xfrm>
          <a:prstGeom prst="rect">
            <a:avLst/>
          </a:prstGeom>
        </p:spPr>
      </p:pic>
    </p:spTree>
    <p:extLst>
      <p:ext uri="{BB962C8B-B14F-4D97-AF65-F5344CB8AC3E}">
        <p14:creationId xmlns:p14="http://schemas.microsoft.com/office/powerpoint/2010/main" val="3457173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9303A7-F963-3701-411C-1DC66F5DADCB}"/>
              </a:ext>
            </a:extLst>
          </p:cNvPr>
          <p:cNvSpPr txBox="1"/>
          <p:nvPr/>
        </p:nvSpPr>
        <p:spPr>
          <a:xfrm>
            <a:off x="936701" y="390341"/>
            <a:ext cx="11697629" cy="784830"/>
          </a:xfrm>
          <a:prstGeom prst="rect">
            <a:avLst/>
          </a:prstGeom>
          <a:noFill/>
        </p:spPr>
        <p:txBody>
          <a:bodyPr wrap="square">
            <a:spAutoFit/>
          </a:bodyPr>
          <a:lstStyle/>
          <a:p>
            <a:pPr>
              <a:lnSpc>
                <a:spcPts val="5400"/>
              </a:lnSpc>
            </a:pPr>
            <a:r>
              <a:rPr lang="en-IN" sz="4450" b="1" dirty="0">
                <a:solidFill>
                  <a:srgbClr val="FF0000"/>
                </a:solidFill>
                <a:latin typeface="Corben" pitchFamily="34" charset="0"/>
              </a:rPr>
              <a:t>Visualization</a:t>
            </a:r>
            <a:endParaRPr lang="en-US" sz="4450" b="1" dirty="0">
              <a:solidFill>
                <a:srgbClr val="FF0000"/>
              </a:solidFill>
              <a:latin typeface="Corben" pitchFamily="34" charset="0"/>
            </a:endParaRPr>
          </a:p>
        </p:txBody>
      </p:sp>
      <p:pic>
        <p:nvPicPr>
          <p:cNvPr id="4" name="Picture 3">
            <a:extLst>
              <a:ext uri="{FF2B5EF4-FFF2-40B4-BE49-F238E27FC236}">
                <a16:creationId xmlns:a16="http://schemas.microsoft.com/office/drawing/2014/main" id="{A9C39028-AF3B-7887-8A5D-430B3D127DC8}"/>
              </a:ext>
            </a:extLst>
          </p:cNvPr>
          <p:cNvPicPr>
            <a:picLocks noChangeAspect="1"/>
          </p:cNvPicPr>
          <p:nvPr/>
        </p:nvPicPr>
        <p:blipFill>
          <a:blip r:embed="rId2"/>
          <a:stretch>
            <a:fillRect/>
          </a:stretch>
        </p:blipFill>
        <p:spPr>
          <a:xfrm>
            <a:off x="12876174" y="7755557"/>
            <a:ext cx="1657350" cy="390525"/>
          </a:xfrm>
          <a:prstGeom prst="rect">
            <a:avLst/>
          </a:prstGeom>
        </p:spPr>
      </p:pic>
      <p:pic>
        <p:nvPicPr>
          <p:cNvPr id="5" name="Picture 4">
            <a:extLst>
              <a:ext uri="{FF2B5EF4-FFF2-40B4-BE49-F238E27FC236}">
                <a16:creationId xmlns:a16="http://schemas.microsoft.com/office/drawing/2014/main" id="{1610B7E8-8EA2-02F5-E952-E2918FB27455}"/>
              </a:ext>
            </a:extLst>
          </p:cNvPr>
          <p:cNvPicPr>
            <a:picLocks noChangeAspect="1"/>
          </p:cNvPicPr>
          <p:nvPr/>
        </p:nvPicPr>
        <p:blipFill>
          <a:blip r:embed="rId3"/>
          <a:stretch>
            <a:fillRect/>
          </a:stretch>
        </p:blipFill>
        <p:spPr>
          <a:xfrm>
            <a:off x="1018296" y="1295950"/>
            <a:ext cx="12593808" cy="6459607"/>
          </a:xfrm>
          <a:prstGeom prst="rect">
            <a:avLst/>
          </a:prstGeom>
        </p:spPr>
      </p:pic>
    </p:spTree>
    <p:extLst>
      <p:ext uri="{BB962C8B-B14F-4D97-AF65-F5344CB8AC3E}">
        <p14:creationId xmlns:p14="http://schemas.microsoft.com/office/powerpoint/2010/main" val="4291641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B055920-634D-3575-B644-B9FE0B6F2E3C}"/>
              </a:ext>
            </a:extLst>
          </p:cNvPr>
          <p:cNvSpPr txBox="1"/>
          <p:nvPr/>
        </p:nvSpPr>
        <p:spPr>
          <a:xfrm>
            <a:off x="936701" y="205472"/>
            <a:ext cx="11697629" cy="784830"/>
          </a:xfrm>
          <a:prstGeom prst="rect">
            <a:avLst/>
          </a:prstGeom>
          <a:noFill/>
        </p:spPr>
        <p:txBody>
          <a:bodyPr wrap="square">
            <a:spAutoFit/>
          </a:bodyPr>
          <a:lstStyle/>
          <a:p>
            <a:pPr>
              <a:lnSpc>
                <a:spcPts val="5400"/>
              </a:lnSpc>
            </a:pPr>
            <a:r>
              <a:rPr lang="en-IN" sz="4450" b="1" dirty="0">
                <a:solidFill>
                  <a:srgbClr val="FF0000"/>
                </a:solidFill>
                <a:latin typeface="Corben" pitchFamily="34" charset="0"/>
              </a:rPr>
              <a:t>Visualization</a:t>
            </a:r>
            <a:endParaRPr lang="en-US" sz="4450" b="1" dirty="0">
              <a:solidFill>
                <a:srgbClr val="FF0000"/>
              </a:solidFill>
              <a:latin typeface="Corben" pitchFamily="34" charset="0"/>
            </a:endParaRPr>
          </a:p>
        </p:txBody>
      </p:sp>
      <p:sp>
        <p:nvSpPr>
          <p:cNvPr id="8" name="Rectangle 7">
            <a:extLst>
              <a:ext uri="{FF2B5EF4-FFF2-40B4-BE49-F238E27FC236}">
                <a16:creationId xmlns:a16="http://schemas.microsoft.com/office/drawing/2014/main" id="{D32E96AE-F366-8EB9-CA4E-9B6CD645D18A}"/>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4502EA74-DDE6-84B3-65F0-4FB72891C79F}"/>
              </a:ext>
            </a:extLst>
          </p:cNvPr>
          <p:cNvPicPr>
            <a:picLocks noChangeAspect="1"/>
          </p:cNvPicPr>
          <p:nvPr/>
        </p:nvPicPr>
        <p:blipFill>
          <a:blip r:embed="rId2"/>
          <a:stretch>
            <a:fillRect/>
          </a:stretch>
        </p:blipFill>
        <p:spPr>
          <a:xfrm>
            <a:off x="1032585" y="990302"/>
            <a:ext cx="12565229" cy="6904761"/>
          </a:xfrm>
          <a:prstGeom prst="rect">
            <a:avLst/>
          </a:prstGeom>
        </p:spPr>
      </p:pic>
    </p:spTree>
    <p:extLst>
      <p:ext uri="{BB962C8B-B14F-4D97-AF65-F5344CB8AC3E}">
        <p14:creationId xmlns:p14="http://schemas.microsoft.com/office/powerpoint/2010/main" val="3729745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BE50CB-E14A-74E2-0454-73DC397CE8EA}"/>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0C6764C5-105C-AA22-3715-76796BA194D5}"/>
              </a:ext>
            </a:extLst>
          </p:cNvPr>
          <p:cNvSpPr txBox="1"/>
          <p:nvPr/>
        </p:nvSpPr>
        <p:spPr>
          <a:xfrm>
            <a:off x="1187606" y="1289040"/>
            <a:ext cx="11379817" cy="7112845"/>
          </a:xfrm>
          <a:prstGeom prst="rect">
            <a:avLst/>
          </a:prstGeom>
          <a:noFill/>
        </p:spPr>
        <p:txBody>
          <a:bodyPr wrap="square">
            <a:spAutoFit/>
          </a:bodyPr>
          <a:lstStyle/>
          <a:p>
            <a:pPr algn="just">
              <a:lnSpc>
                <a:spcPct val="150000"/>
              </a:lnSpc>
              <a:buNone/>
            </a:pPr>
            <a:r>
              <a:rPr lang="en-US" dirty="0">
                <a:ea typeface="Calibri" panose="020F0502020204030204" pitchFamily="34" charset="0"/>
              </a:rPr>
              <a:t>This dashboard analyzes how rainfall affects crop production and yield across different years, states, and crop types.</a:t>
            </a:r>
          </a:p>
          <a:p>
            <a:pPr algn="just">
              <a:lnSpc>
                <a:spcPct val="150000"/>
              </a:lnSpc>
              <a:buNone/>
            </a:pPr>
            <a:r>
              <a:rPr lang="en-US" b="1" dirty="0">
                <a:ea typeface="Calibri" panose="020F0502020204030204" pitchFamily="34" charset="0"/>
              </a:rPr>
              <a:t> Page 1 – Overview</a:t>
            </a:r>
          </a:p>
          <a:p>
            <a:pPr marL="742950" lvl="1" indent="-285750" algn="just">
              <a:lnSpc>
                <a:spcPct val="150000"/>
              </a:lnSpc>
              <a:buFont typeface="Arial" panose="020B0604020202020204" pitchFamily="34" charset="0"/>
              <a:buChar char="•"/>
            </a:pPr>
            <a:r>
              <a:rPr lang="en-US" dirty="0">
                <a:ea typeface="Calibri" panose="020F0502020204030204" pitchFamily="34" charset="0"/>
              </a:rPr>
              <a:t>Shows Total Production, Rainfall, Yield, and Area</a:t>
            </a:r>
          </a:p>
          <a:p>
            <a:pPr marL="742950" lvl="1" indent="-285750" algn="just">
              <a:lnSpc>
                <a:spcPct val="150000"/>
              </a:lnSpc>
              <a:buFont typeface="Arial" panose="020B0604020202020204" pitchFamily="34" charset="0"/>
              <a:buChar char="•"/>
            </a:pPr>
            <a:r>
              <a:rPr lang="en-US" dirty="0">
                <a:ea typeface="Calibri" panose="020F0502020204030204" pitchFamily="34" charset="0"/>
              </a:rPr>
              <a:t>Displays Rainfall vs Production trends</a:t>
            </a:r>
          </a:p>
          <a:p>
            <a:pPr marL="742950" lvl="1" indent="-285750" algn="just">
              <a:lnSpc>
                <a:spcPct val="150000"/>
              </a:lnSpc>
              <a:buFont typeface="Arial" panose="020B0604020202020204" pitchFamily="34" charset="0"/>
              <a:buChar char="•"/>
            </a:pPr>
            <a:r>
              <a:rPr lang="en-US" dirty="0">
                <a:ea typeface="Calibri" panose="020F0502020204030204" pitchFamily="34" charset="0"/>
              </a:rPr>
              <a:t>Shows Crop Category distribution</a:t>
            </a:r>
          </a:p>
          <a:p>
            <a:pPr marL="742950" lvl="1" indent="-285750" algn="just">
              <a:lnSpc>
                <a:spcPct val="150000"/>
              </a:lnSpc>
              <a:buFont typeface="Arial" panose="020B0604020202020204" pitchFamily="34" charset="0"/>
              <a:buChar char="•"/>
            </a:pPr>
            <a:r>
              <a:rPr lang="en-US" dirty="0">
                <a:ea typeface="Calibri" panose="020F0502020204030204" pitchFamily="34" charset="0"/>
              </a:rPr>
              <a:t>Includes State-wise production map</a:t>
            </a:r>
          </a:p>
          <a:p>
            <a:pPr algn="just">
              <a:lnSpc>
                <a:spcPct val="150000"/>
              </a:lnSpc>
              <a:buNone/>
            </a:pPr>
            <a:r>
              <a:rPr lang="en-US" b="1" dirty="0">
                <a:ea typeface="Calibri" panose="020F0502020204030204" pitchFamily="34" charset="0"/>
              </a:rPr>
              <a:t> Page 2 – Deep Analysis</a:t>
            </a:r>
          </a:p>
          <a:p>
            <a:pPr marL="742950" lvl="1" indent="-285750" algn="just">
              <a:lnSpc>
                <a:spcPct val="150000"/>
              </a:lnSpc>
              <a:buFont typeface="Arial" panose="020B0604020202020204" pitchFamily="34" charset="0"/>
              <a:buChar char="•"/>
            </a:pPr>
            <a:r>
              <a:rPr lang="en-US" dirty="0">
                <a:ea typeface="Calibri" panose="020F0502020204030204" pitchFamily="34" charset="0"/>
              </a:rPr>
              <a:t>Highlights Top Producing Crops</a:t>
            </a:r>
          </a:p>
          <a:p>
            <a:pPr marL="742950" lvl="1" indent="-285750" algn="just">
              <a:lnSpc>
                <a:spcPct val="150000"/>
              </a:lnSpc>
              <a:buFont typeface="Arial" panose="020B0604020202020204" pitchFamily="34" charset="0"/>
              <a:buChar char="•"/>
            </a:pPr>
            <a:r>
              <a:rPr lang="en-US" dirty="0">
                <a:ea typeface="Calibri" panose="020F0502020204030204" pitchFamily="34" charset="0"/>
              </a:rPr>
              <a:t>Shows Production trend over years</a:t>
            </a:r>
          </a:p>
          <a:p>
            <a:pPr marL="742950" lvl="1" indent="-285750" algn="just">
              <a:lnSpc>
                <a:spcPct val="150000"/>
              </a:lnSpc>
              <a:buFont typeface="Arial" panose="020B0604020202020204" pitchFamily="34" charset="0"/>
              <a:buChar char="•"/>
            </a:pPr>
            <a:r>
              <a:rPr lang="en-US" dirty="0">
                <a:ea typeface="Calibri" panose="020F0502020204030204" pitchFamily="34" charset="0"/>
              </a:rPr>
              <a:t>Calculates Impact Score (Yield ÷ Rainfall)</a:t>
            </a:r>
          </a:p>
          <a:p>
            <a:pPr marL="742950" lvl="1" indent="-285750" algn="just">
              <a:lnSpc>
                <a:spcPct val="150000"/>
              </a:lnSpc>
              <a:buFont typeface="Arial" panose="020B0604020202020204" pitchFamily="34" charset="0"/>
              <a:buChar char="•"/>
            </a:pPr>
            <a:r>
              <a:rPr lang="en-US" dirty="0">
                <a:ea typeface="Calibri" panose="020F0502020204030204" pitchFamily="34" charset="0"/>
              </a:rPr>
              <a:t>Identifies climate efficiency of crops</a:t>
            </a:r>
          </a:p>
          <a:p>
            <a:pPr>
              <a:lnSpc>
                <a:spcPct val="150000"/>
              </a:lnSpc>
            </a:pPr>
            <a:r>
              <a:rPr lang="en-US" b="1" dirty="0"/>
              <a:t>Page 3 – Production Distribution Analysis</a:t>
            </a:r>
          </a:p>
          <a:p>
            <a:pPr marL="742950" lvl="1" indent="-285750">
              <a:lnSpc>
                <a:spcPct val="150000"/>
              </a:lnSpc>
              <a:buFont typeface="Arial" panose="020B0604020202020204" pitchFamily="34" charset="0"/>
              <a:buChar char="•"/>
            </a:pPr>
            <a:r>
              <a:rPr lang="en-US" dirty="0">
                <a:ea typeface="Calibri" panose="020F0502020204030204" pitchFamily="34" charset="0"/>
              </a:rPr>
              <a:t>Shows histogram of crop production (production bins)</a:t>
            </a:r>
          </a:p>
          <a:p>
            <a:pPr marL="742950" lvl="1" indent="-285750">
              <a:lnSpc>
                <a:spcPct val="150000"/>
              </a:lnSpc>
              <a:buFont typeface="Arial" panose="020B0604020202020204" pitchFamily="34" charset="0"/>
              <a:buChar char="•"/>
            </a:pPr>
            <a:r>
              <a:rPr lang="en-US" dirty="0">
                <a:ea typeface="Calibri" panose="020F0502020204030204" pitchFamily="34" charset="0"/>
              </a:rPr>
              <a:t>Displays Average, Median, and Maximum production KPIs</a:t>
            </a:r>
          </a:p>
          <a:p>
            <a:pPr marL="742950" lvl="1" indent="-285750">
              <a:lnSpc>
                <a:spcPct val="150000"/>
              </a:lnSpc>
              <a:buFont typeface="Arial" panose="020B0604020202020204" pitchFamily="34" charset="0"/>
              <a:buChar char="•"/>
            </a:pPr>
            <a:r>
              <a:rPr lang="en-US" dirty="0">
                <a:ea typeface="Calibri" panose="020F0502020204030204" pitchFamily="34" charset="0"/>
              </a:rPr>
              <a:t>Compares Avg, Min, Max, and Median production by Crop Type</a:t>
            </a:r>
          </a:p>
          <a:p>
            <a:pPr marL="1200150" lvl="2" indent="-285750" algn="just">
              <a:lnSpc>
                <a:spcPct val="150000"/>
              </a:lnSpc>
              <a:buFont typeface="Arial" panose="020B0604020202020204" pitchFamily="34" charset="0"/>
              <a:buChar char="•"/>
            </a:pPr>
            <a:endParaRPr lang="en-US" dirty="0">
              <a:ea typeface="Calibri" panose="020F0502020204030204" pitchFamily="34" charset="0"/>
            </a:endParaRPr>
          </a:p>
          <a:p>
            <a:pPr algn="just">
              <a:lnSpc>
                <a:spcPct val="150000"/>
              </a:lnSpc>
              <a:buNone/>
            </a:pPr>
            <a:r>
              <a:rPr lang="en-US" b="1" dirty="0">
                <a:ea typeface="Calibri" panose="020F0502020204030204" pitchFamily="34" charset="0"/>
              </a:rPr>
              <a:t> </a:t>
            </a:r>
            <a:endParaRPr lang="en-US" dirty="0">
              <a:ea typeface="Calibri" panose="020F0502020204030204" pitchFamily="34" charset="0"/>
            </a:endParaRPr>
          </a:p>
        </p:txBody>
      </p:sp>
      <p:sp>
        <p:nvSpPr>
          <p:cNvPr id="5" name="TextBox 4">
            <a:extLst>
              <a:ext uri="{FF2B5EF4-FFF2-40B4-BE49-F238E27FC236}">
                <a16:creationId xmlns:a16="http://schemas.microsoft.com/office/drawing/2014/main" id="{6449B299-D170-D40B-F0FA-3575E19EE437}"/>
              </a:ext>
            </a:extLst>
          </p:cNvPr>
          <p:cNvSpPr txBox="1"/>
          <p:nvPr/>
        </p:nvSpPr>
        <p:spPr>
          <a:xfrm>
            <a:off x="936701" y="390341"/>
            <a:ext cx="11697629" cy="784830"/>
          </a:xfrm>
          <a:prstGeom prst="rect">
            <a:avLst/>
          </a:prstGeom>
          <a:noFill/>
        </p:spPr>
        <p:txBody>
          <a:bodyPr wrap="square">
            <a:spAutoFit/>
          </a:bodyPr>
          <a:lstStyle/>
          <a:p>
            <a:pPr>
              <a:lnSpc>
                <a:spcPts val="5400"/>
              </a:lnSpc>
            </a:pPr>
            <a:r>
              <a:rPr lang="en-US" sz="4800" b="1" dirty="0">
                <a:solidFill>
                  <a:srgbClr val="FF0000"/>
                </a:solidFill>
                <a:ea typeface="Calibri" panose="020F0502020204030204" pitchFamily="34" charset="0"/>
              </a:rPr>
              <a:t>Climate Impact Dashboard Explanation</a:t>
            </a:r>
            <a:endParaRPr lang="en-US" sz="4450" b="1" dirty="0">
              <a:solidFill>
                <a:srgbClr val="FF0000"/>
              </a:solidFill>
              <a:latin typeface="Corben" pitchFamily="34" charset="0"/>
            </a:endParaRPr>
          </a:p>
        </p:txBody>
      </p:sp>
    </p:spTree>
    <p:extLst>
      <p:ext uri="{BB962C8B-B14F-4D97-AF65-F5344CB8AC3E}">
        <p14:creationId xmlns:p14="http://schemas.microsoft.com/office/powerpoint/2010/main" val="3163908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71DEE0-2AAB-515E-FD8A-19BE5A37F986}"/>
              </a:ext>
            </a:extLst>
          </p:cNvPr>
          <p:cNvSpPr txBox="1"/>
          <p:nvPr/>
        </p:nvSpPr>
        <p:spPr>
          <a:xfrm>
            <a:off x="501804" y="299316"/>
            <a:ext cx="7315200" cy="784830"/>
          </a:xfrm>
          <a:prstGeom prst="rect">
            <a:avLst/>
          </a:prstGeom>
          <a:noFill/>
        </p:spPr>
        <p:txBody>
          <a:bodyPr wrap="square">
            <a:spAutoFit/>
          </a:bodyPr>
          <a:lstStyle/>
          <a:p>
            <a:pPr>
              <a:lnSpc>
                <a:spcPts val="5400"/>
              </a:lnSpc>
            </a:pPr>
            <a:r>
              <a:rPr lang="en-US" sz="4800" b="1" dirty="0">
                <a:solidFill>
                  <a:srgbClr val="FF0000"/>
                </a:solidFill>
                <a:latin typeface="Corben" pitchFamily="34" charset="0"/>
                <a:ea typeface="Calibri" panose="020F0502020204030204" pitchFamily="34" charset="0"/>
              </a:rPr>
              <a:t>Dashboard</a:t>
            </a:r>
            <a:endParaRPr lang="en-US" sz="4800" b="1" dirty="0">
              <a:solidFill>
                <a:srgbClr val="FF0000"/>
              </a:solidFill>
              <a:latin typeface="Corben" pitchFamily="34" charset="0"/>
            </a:endParaRPr>
          </a:p>
        </p:txBody>
      </p:sp>
      <p:pic>
        <p:nvPicPr>
          <p:cNvPr id="6" name="Picture 5">
            <a:extLst>
              <a:ext uri="{FF2B5EF4-FFF2-40B4-BE49-F238E27FC236}">
                <a16:creationId xmlns:a16="http://schemas.microsoft.com/office/drawing/2014/main" id="{139D7B2A-1A76-FB8C-C537-CA541DD76F0F}"/>
              </a:ext>
            </a:extLst>
          </p:cNvPr>
          <p:cNvPicPr>
            <a:picLocks noChangeAspect="1"/>
          </p:cNvPicPr>
          <p:nvPr/>
        </p:nvPicPr>
        <p:blipFill>
          <a:blip r:embed="rId2"/>
          <a:stretch>
            <a:fillRect/>
          </a:stretch>
        </p:blipFill>
        <p:spPr>
          <a:xfrm>
            <a:off x="501804" y="1084146"/>
            <a:ext cx="7990843" cy="6801548"/>
          </a:xfrm>
          <a:prstGeom prst="rect">
            <a:avLst/>
          </a:prstGeom>
        </p:spPr>
      </p:pic>
      <p:sp>
        <p:nvSpPr>
          <p:cNvPr id="8" name="TextBox 7">
            <a:extLst>
              <a:ext uri="{FF2B5EF4-FFF2-40B4-BE49-F238E27FC236}">
                <a16:creationId xmlns:a16="http://schemas.microsoft.com/office/drawing/2014/main" id="{08233A68-815D-09EA-8EB0-645ACFF56A3C}"/>
              </a:ext>
            </a:extLst>
          </p:cNvPr>
          <p:cNvSpPr txBox="1"/>
          <p:nvPr/>
        </p:nvSpPr>
        <p:spPr>
          <a:xfrm>
            <a:off x="8917768" y="1276103"/>
            <a:ext cx="5098093" cy="5028236"/>
          </a:xfrm>
          <a:prstGeom prst="rect">
            <a:avLst/>
          </a:prstGeom>
          <a:noFill/>
        </p:spPr>
        <p:txBody>
          <a:bodyPr wrap="square">
            <a:spAutoFit/>
          </a:bodyPr>
          <a:lstStyle/>
          <a:p>
            <a:pPr algn="just">
              <a:lnSpc>
                <a:spcPct val="150000"/>
              </a:lnSpc>
              <a:buNone/>
            </a:pPr>
            <a:r>
              <a:rPr lang="en-IN" sz="1800" b="1" dirty="0">
                <a:solidFill>
                  <a:srgbClr val="000000"/>
                </a:solidFill>
                <a:effectLst/>
                <a:latin typeface="Times New Roman" panose="02020603050405020304" pitchFamily="18" charset="0"/>
                <a:ea typeface="Arial" panose="020B0604020202020204" pitchFamily="34" charset="0"/>
                <a:cs typeface="Arial MT"/>
              </a:rPr>
              <a:t>Home Page Explanation :</a:t>
            </a:r>
            <a:endParaRPr lang="en-IN" sz="1400" dirty="0">
              <a:effectLst/>
              <a:latin typeface="Arial MT"/>
              <a:ea typeface="Arial MT"/>
              <a:cs typeface="Arial MT"/>
            </a:endParaRPr>
          </a:p>
          <a:p>
            <a:pPr algn="just">
              <a:lnSpc>
                <a:spcPct val="150000"/>
              </a:lnSpc>
              <a:buNone/>
            </a:pPr>
            <a:r>
              <a:rPr lang="en-IN" sz="1800" dirty="0">
                <a:solidFill>
                  <a:srgbClr val="000000"/>
                </a:solidFill>
                <a:effectLst/>
                <a:latin typeface="Times New Roman" panose="02020603050405020304" pitchFamily="18" charset="0"/>
                <a:ea typeface="Arial" panose="020B0604020202020204" pitchFamily="34" charset="0"/>
                <a:cs typeface="Arial MT"/>
              </a:rPr>
              <a:t>The home page of the </a:t>
            </a:r>
            <a:r>
              <a:rPr lang="en-IN" sz="1800" dirty="0" err="1">
                <a:solidFill>
                  <a:srgbClr val="000000"/>
                </a:solidFill>
                <a:effectLst/>
                <a:latin typeface="Times New Roman" panose="02020603050405020304" pitchFamily="18" charset="0"/>
                <a:ea typeface="Arial" panose="020B0604020202020204" pitchFamily="34" charset="0"/>
                <a:cs typeface="Arial MT"/>
              </a:rPr>
              <a:t>CropAI</a:t>
            </a:r>
            <a:r>
              <a:rPr lang="en-IN" sz="1800" dirty="0">
                <a:solidFill>
                  <a:srgbClr val="000000"/>
                </a:solidFill>
                <a:effectLst/>
                <a:latin typeface="Times New Roman" panose="02020603050405020304" pitchFamily="18" charset="0"/>
                <a:ea typeface="Arial" panose="020B0604020202020204" pitchFamily="34" charset="0"/>
                <a:cs typeface="Arial MT"/>
              </a:rPr>
              <a:t> system provides an overview of the application, highlighting its purpose of </a:t>
            </a:r>
            <a:r>
              <a:rPr lang="en-IN" sz="1800" dirty="0" err="1">
                <a:solidFill>
                  <a:srgbClr val="000000"/>
                </a:solidFill>
                <a:effectLst/>
                <a:latin typeface="Times New Roman" panose="02020603050405020304" pitchFamily="18" charset="0"/>
                <a:ea typeface="Arial" panose="020B0604020202020204" pitchFamily="34" charset="0"/>
                <a:cs typeface="Arial MT"/>
              </a:rPr>
              <a:t>analyzing</a:t>
            </a:r>
            <a:r>
              <a:rPr lang="en-IN" sz="1800" dirty="0">
                <a:solidFill>
                  <a:srgbClr val="000000"/>
                </a:solidFill>
                <a:effectLst/>
                <a:latin typeface="Times New Roman" panose="02020603050405020304" pitchFamily="18" charset="0"/>
                <a:ea typeface="Arial" panose="020B0604020202020204" pitchFamily="34" charset="0"/>
                <a:cs typeface="Arial MT"/>
              </a:rPr>
              <a:t> climate change impact on crop production using machine learning. It includes navigation options like Predict, Recommend, Compare, Forecast, and Dashboard for easy access to different features.</a:t>
            </a:r>
            <a:endParaRPr lang="en-IN" sz="1400" dirty="0">
              <a:effectLst/>
              <a:latin typeface="Arial MT"/>
              <a:ea typeface="Arial MT"/>
              <a:cs typeface="Arial MT"/>
            </a:endParaRPr>
          </a:p>
          <a:p>
            <a:pPr algn="just">
              <a:lnSpc>
                <a:spcPct val="150000"/>
              </a:lnSpc>
              <a:buNone/>
            </a:pPr>
            <a:r>
              <a:rPr lang="en-IN" sz="1800" dirty="0">
                <a:solidFill>
                  <a:srgbClr val="000000"/>
                </a:solidFill>
                <a:effectLst/>
                <a:latin typeface="Times New Roman" panose="02020603050405020304" pitchFamily="18" charset="0"/>
                <a:ea typeface="Arial" panose="020B0604020202020204" pitchFamily="34" charset="0"/>
                <a:cs typeface="Arial MT"/>
              </a:rPr>
              <a:t>It displays key functionalities such as crop prediction, smart crop recommendation, model comparison, future forecasting, analytics dashboard, and dataset information. </a:t>
            </a:r>
            <a:endParaRPr lang="en-IN" sz="1400" dirty="0">
              <a:effectLst/>
              <a:latin typeface="Arial MT"/>
              <a:ea typeface="Arial MT"/>
              <a:cs typeface="Arial MT"/>
            </a:endParaRPr>
          </a:p>
        </p:txBody>
      </p:sp>
      <p:sp>
        <p:nvSpPr>
          <p:cNvPr id="9" name="Rectangle 8">
            <a:extLst>
              <a:ext uri="{FF2B5EF4-FFF2-40B4-BE49-F238E27FC236}">
                <a16:creationId xmlns:a16="http://schemas.microsoft.com/office/drawing/2014/main" id="{CCF9A4AB-0773-96EC-35DA-BBBA24332879}"/>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38237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4E310A-D147-7F06-F119-C56B954DF2C6}"/>
              </a:ext>
            </a:extLst>
          </p:cNvPr>
          <p:cNvSpPr txBox="1"/>
          <p:nvPr/>
        </p:nvSpPr>
        <p:spPr>
          <a:xfrm>
            <a:off x="501804" y="299316"/>
            <a:ext cx="7315200" cy="784830"/>
          </a:xfrm>
          <a:prstGeom prst="rect">
            <a:avLst/>
          </a:prstGeom>
          <a:noFill/>
        </p:spPr>
        <p:txBody>
          <a:bodyPr wrap="square">
            <a:spAutoFit/>
          </a:bodyPr>
          <a:lstStyle/>
          <a:p>
            <a:pPr>
              <a:lnSpc>
                <a:spcPts val="5400"/>
              </a:lnSpc>
            </a:pPr>
            <a:r>
              <a:rPr lang="en-US" sz="4800" b="1" dirty="0">
                <a:solidFill>
                  <a:srgbClr val="FF0000"/>
                </a:solidFill>
                <a:latin typeface="Corben" pitchFamily="34" charset="0"/>
                <a:ea typeface="Calibri" panose="020F0502020204030204" pitchFamily="34" charset="0"/>
              </a:rPr>
              <a:t>Dashboard</a:t>
            </a:r>
            <a:endParaRPr lang="en-US" sz="4800" b="1" dirty="0">
              <a:solidFill>
                <a:srgbClr val="FF0000"/>
              </a:solidFill>
              <a:latin typeface="Corben" pitchFamily="34" charset="0"/>
            </a:endParaRPr>
          </a:p>
        </p:txBody>
      </p:sp>
      <p:pic>
        <p:nvPicPr>
          <p:cNvPr id="3" name="Picture 2">
            <a:extLst>
              <a:ext uri="{FF2B5EF4-FFF2-40B4-BE49-F238E27FC236}">
                <a16:creationId xmlns:a16="http://schemas.microsoft.com/office/drawing/2014/main" id="{AA7F914C-3964-0BD1-294B-2BD1A5530B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804" y="1209407"/>
            <a:ext cx="7593382" cy="6581783"/>
          </a:xfrm>
          <a:prstGeom prst="rect">
            <a:avLst/>
          </a:prstGeom>
        </p:spPr>
      </p:pic>
      <p:sp>
        <p:nvSpPr>
          <p:cNvPr id="5" name="TextBox 4">
            <a:extLst>
              <a:ext uri="{FF2B5EF4-FFF2-40B4-BE49-F238E27FC236}">
                <a16:creationId xmlns:a16="http://schemas.microsoft.com/office/drawing/2014/main" id="{EF1215B0-C3A2-AE0A-73D6-A6EFA8C198B2}"/>
              </a:ext>
            </a:extLst>
          </p:cNvPr>
          <p:cNvSpPr txBox="1"/>
          <p:nvPr/>
        </p:nvSpPr>
        <p:spPr>
          <a:xfrm>
            <a:off x="8680536" y="1409823"/>
            <a:ext cx="5197540" cy="4612738"/>
          </a:xfrm>
          <a:prstGeom prst="rect">
            <a:avLst/>
          </a:prstGeom>
          <a:noFill/>
        </p:spPr>
        <p:txBody>
          <a:bodyPr wrap="square">
            <a:spAutoFit/>
          </a:bodyPr>
          <a:lstStyle/>
          <a:p>
            <a:pPr algn="just">
              <a:lnSpc>
                <a:spcPct val="150000"/>
              </a:lnSpc>
              <a:buNone/>
            </a:pPr>
            <a:r>
              <a:rPr lang="en-IN" sz="1800" b="1" dirty="0">
                <a:solidFill>
                  <a:srgbClr val="000000"/>
                </a:solidFill>
                <a:effectLst/>
                <a:latin typeface="Times New Roman" panose="02020603050405020304" pitchFamily="18" charset="0"/>
                <a:ea typeface="Arial" panose="020B0604020202020204" pitchFamily="34" charset="0"/>
                <a:cs typeface="Arial MT"/>
              </a:rPr>
              <a:t>Prediction Page Explanation </a:t>
            </a:r>
            <a:endParaRPr lang="en-IN" sz="1400" dirty="0">
              <a:effectLst/>
              <a:latin typeface="Arial MT"/>
              <a:ea typeface="Arial MT"/>
              <a:cs typeface="Arial MT"/>
            </a:endParaRPr>
          </a:p>
          <a:p>
            <a:pPr algn="just">
              <a:lnSpc>
                <a:spcPct val="150000"/>
              </a:lnSpc>
              <a:buNone/>
            </a:pPr>
            <a:r>
              <a:rPr lang="en-IN" sz="1800" dirty="0">
                <a:solidFill>
                  <a:srgbClr val="000000"/>
                </a:solidFill>
                <a:effectLst/>
                <a:latin typeface="Times New Roman" panose="02020603050405020304" pitchFamily="18" charset="0"/>
                <a:ea typeface="Arial" panose="020B0604020202020204" pitchFamily="34" charset="0"/>
                <a:cs typeface="Arial MT"/>
              </a:rPr>
              <a:t>The prediction page allows users to input crop details such as crop name, season, rainfall, and area to predict crop production using a machine learning model. After entering the values and clicking “Predict Production,” the system generates the estimated crop yield.</a:t>
            </a:r>
            <a:endParaRPr lang="en-IN" sz="1400" dirty="0">
              <a:effectLst/>
              <a:latin typeface="Arial MT"/>
              <a:ea typeface="Arial MT"/>
              <a:cs typeface="Arial MT"/>
            </a:endParaRPr>
          </a:p>
          <a:p>
            <a:pPr algn="just">
              <a:lnSpc>
                <a:spcPct val="150000"/>
              </a:lnSpc>
              <a:buNone/>
            </a:pPr>
            <a:r>
              <a:rPr lang="en-IN" sz="1800" dirty="0">
                <a:solidFill>
                  <a:srgbClr val="000000"/>
                </a:solidFill>
                <a:effectLst/>
                <a:latin typeface="Times New Roman" panose="02020603050405020304" pitchFamily="18" charset="0"/>
                <a:ea typeface="Arial" panose="020B0604020202020204" pitchFamily="34" charset="0"/>
                <a:cs typeface="Arial MT"/>
              </a:rPr>
              <a:t>The page also displays the predicted output clearly along with a simple chart showing prediction history. This helps users easily understand the results and </a:t>
            </a:r>
            <a:r>
              <a:rPr lang="en-IN" sz="1800" dirty="0" err="1">
                <a:solidFill>
                  <a:srgbClr val="000000"/>
                </a:solidFill>
                <a:effectLst/>
                <a:latin typeface="Times New Roman" panose="02020603050405020304" pitchFamily="18" charset="0"/>
                <a:ea typeface="Arial" panose="020B0604020202020204" pitchFamily="34" charset="0"/>
                <a:cs typeface="Arial MT"/>
              </a:rPr>
              <a:t>analyze</a:t>
            </a:r>
            <a:r>
              <a:rPr lang="en-IN" sz="1800" dirty="0">
                <a:solidFill>
                  <a:srgbClr val="000000"/>
                </a:solidFill>
                <a:effectLst/>
                <a:latin typeface="Times New Roman" panose="02020603050405020304" pitchFamily="18" charset="0"/>
                <a:ea typeface="Arial" panose="020B0604020202020204" pitchFamily="34" charset="0"/>
                <a:cs typeface="Arial MT"/>
              </a:rPr>
              <a:t> crop production based on climate conditions.</a:t>
            </a:r>
            <a:endParaRPr lang="en-IN" sz="1400" dirty="0">
              <a:effectLst/>
              <a:latin typeface="Arial MT"/>
              <a:ea typeface="Arial MT"/>
              <a:cs typeface="Arial MT"/>
            </a:endParaRPr>
          </a:p>
        </p:txBody>
      </p:sp>
      <p:sp>
        <p:nvSpPr>
          <p:cNvPr id="6" name="Rectangle 5">
            <a:extLst>
              <a:ext uri="{FF2B5EF4-FFF2-40B4-BE49-F238E27FC236}">
                <a16:creationId xmlns:a16="http://schemas.microsoft.com/office/drawing/2014/main" id="{0C8030F5-AE4E-9120-80A7-2CFFC6C32B7A}"/>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29521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2BE6185-F06D-49AB-0F59-2B0ABF1E1931}"/>
              </a:ext>
            </a:extLst>
          </p:cNvPr>
          <p:cNvSpPr txBox="1"/>
          <p:nvPr/>
        </p:nvSpPr>
        <p:spPr>
          <a:xfrm>
            <a:off x="501804" y="299316"/>
            <a:ext cx="7315200" cy="784830"/>
          </a:xfrm>
          <a:prstGeom prst="rect">
            <a:avLst/>
          </a:prstGeom>
          <a:noFill/>
        </p:spPr>
        <p:txBody>
          <a:bodyPr wrap="square">
            <a:spAutoFit/>
          </a:bodyPr>
          <a:lstStyle/>
          <a:p>
            <a:pPr>
              <a:lnSpc>
                <a:spcPts val="5400"/>
              </a:lnSpc>
            </a:pPr>
            <a:r>
              <a:rPr lang="en-US" sz="4800" b="1" dirty="0">
                <a:solidFill>
                  <a:srgbClr val="FF0000"/>
                </a:solidFill>
                <a:latin typeface="Corben" pitchFamily="34" charset="0"/>
                <a:ea typeface="Calibri" panose="020F0502020204030204" pitchFamily="34" charset="0"/>
              </a:rPr>
              <a:t>Dashboard</a:t>
            </a:r>
            <a:endParaRPr lang="en-US" sz="4800" b="1" dirty="0">
              <a:solidFill>
                <a:srgbClr val="FF0000"/>
              </a:solidFill>
              <a:latin typeface="Corben" pitchFamily="34" charset="0"/>
            </a:endParaRPr>
          </a:p>
        </p:txBody>
      </p:sp>
      <p:pic>
        <p:nvPicPr>
          <p:cNvPr id="5" name="Picture 4">
            <a:extLst>
              <a:ext uri="{FF2B5EF4-FFF2-40B4-BE49-F238E27FC236}">
                <a16:creationId xmlns:a16="http://schemas.microsoft.com/office/drawing/2014/main" id="{D5AD43A9-E8C0-D46C-7089-114FE26167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804" y="1230766"/>
            <a:ext cx="7315200" cy="6510319"/>
          </a:xfrm>
          <a:prstGeom prst="rect">
            <a:avLst/>
          </a:prstGeom>
        </p:spPr>
      </p:pic>
      <p:sp>
        <p:nvSpPr>
          <p:cNvPr id="7" name="TextBox 6">
            <a:extLst>
              <a:ext uri="{FF2B5EF4-FFF2-40B4-BE49-F238E27FC236}">
                <a16:creationId xmlns:a16="http://schemas.microsoft.com/office/drawing/2014/main" id="{CBA332F1-5B5E-9AEC-6AEA-8FE55B8ADB30}"/>
              </a:ext>
            </a:extLst>
          </p:cNvPr>
          <p:cNvSpPr txBox="1"/>
          <p:nvPr/>
        </p:nvSpPr>
        <p:spPr>
          <a:xfrm>
            <a:off x="8166207" y="1381885"/>
            <a:ext cx="5962389" cy="3781741"/>
          </a:xfrm>
          <a:prstGeom prst="rect">
            <a:avLst/>
          </a:prstGeom>
          <a:noFill/>
        </p:spPr>
        <p:txBody>
          <a:bodyPr wrap="square">
            <a:spAutoFit/>
          </a:bodyPr>
          <a:lstStyle/>
          <a:p>
            <a:pPr algn="just">
              <a:lnSpc>
                <a:spcPct val="150000"/>
              </a:lnSpc>
              <a:buNone/>
            </a:pPr>
            <a:r>
              <a:rPr lang="en-IN" sz="1800" b="1" dirty="0">
                <a:solidFill>
                  <a:srgbClr val="000000"/>
                </a:solidFill>
                <a:effectLst/>
                <a:latin typeface="Times New Roman" panose="02020603050405020304" pitchFamily="18" charset="0"/>
                <a:ea typeface="Arial" panose="020B0604020202020204" pitchFamily="34" charset="0"/>
                <a:cs typeface="Arial MT"/>
              </a:rPr>
              <a:t>Recommendation Page Explanation </a:t>
            </a:r>
            <a:endParaRPr lang="en-IN" sz="1400" dirty="0">
              <a:effectLst/>
              <a:latin typeface="Arial MT"/>
              <a:ea typeface="Arial MT"/>
              <a:cs typeface="Arial MT"/>
            </a:endParaRPr>
          </a:p>
          <a:p>
            <a:pPr algn="just">
              <a:lnSpc>
                <a:spcPct val="150000"/>
              </a:lnSpc>
              <a:buNone/>
            </a:pPr>
            <a:r>
              <a:rPr lang="en-IN" sz="1800" dirty="0">
                <a:solidFill>
                  <a:srgbClr val="000000"/>
                </a:solidFill>
                <a:effectLst/>
                <a:latin typeface="Times New Roman" panose="02020603050405020304" pitchFamily="18" charset="0"/>
                <a:ea typeface="Arial" panose="020B0604020202020204" pitchFamily="34" charset="0"/>
                <a:cs typeface="Arial MT"/>
              </a:rPr>
              <a:t>The recommendation page suggests the most suitable crops based on user inputs such as state, district, rainfall, and area. After entering the details, the system </a:t>
            </a:r>
            <a:r>
              <a:rPr lang="en-IN" sz="1800" dirty="0" err="1">
                <a:solidFill>
                  <a:srgbClr val="000000"/>
                </a:solidFill>
                <a:effectLst/>
                <a:latin typeface="Times New Roman" panose="02020603050405020304" pitchFamily="18" charset="0"/>
                <a:ea typeface="Arial" panose="020B0604020202020204" pitchFamily="34" charset="0"/>
                <a:cs typeface="Arial MT"/>
              </a:rPr>
              <a:t>analyzes</a:t>
            </a:r>
            <a:r>
              <a:rPr lang="en-IN" sz="1800" dirty="0">
                <a:solidFill>
                  <a:srgbClr val="000000"/>
                </a:solidFill>
                <a:effectLst/>
                <a:latin typeface="Times New Roman" panose="02020603050405020304" pitchFamily="18" charset="0"/>
                <a:ea typeface="Arial" panose="020B0604020202020204" pitchFamily="34" charset="0"/>
                <a:cs typeface="Arial MT"/>
              </a:rPr>
              <a:t> climate conditions and provides a list of recommended crops.</a:t>
            </a:r>
            <a:endParaRPr lang="en-IN" sz="1400" dirty="0">
              <a:effectLst/>
              <a:latin typeface="Arial MT"/>
              <a:ea typeface="Arial MT"/>
              <a:cs typeface="Arial MT"/>
            </a:endParaRPr>
          </a:p>
          <a:p>
            <a:pPr algn="just">
              <a:lnSpc>
                <a:spcPct val="150000"/>
              </a:lnSpc>
              <a:buNone/>
            </a:pPr>
            <a:r>
              <a:rPr lang="en-IN" sz="1800" dirty="0">
                <a:solidFill>
                  <a:srgbClr val="000000"/>
                </a:solidFill>
                <a:effectLst/>
                <a:latin typeface="Times New Roman" panose="02020603050405020304" pitchFamily="18" charset="0"/>
                <a:ea typeface="Arial" panose="020B0604020202020204" pitchFamily="34" charset="0"/>
                <a:cs typeface="Arial MT"/>
              </a:rPr>
              <a:t>Each crop is displayed with its predicted yield and suitability percentage, helping users identify the best options for cultivation. This feature supports better crop selection and improves agricultural planning.</a:t>
            </a:r>
            <a:endParaRPr lang="en-IN" sz="1400" dirty="0">
              <a:effectLst/>
              <a:latin typeface="Arial MT"/>
              <a:ea typeface="Arial MT"/>
              <a:cs typeface="Arial MT"/>
            </a:endParaRPr>
          </a:p>
        </p:txBody>
      </p:sp>
      <p:sp>
        <p:nvSpPr>
          <p:cNvPr id="8" name="Rectangle 7">
            <a:extLst>
              <a:ext uri="{FF2B5EF4-FFF2-40B4-BE49-F238E27FC236}">
                <a16:creationId xmlns:a16="http://schemas.microsoft.com/office/drawing/2014/main" id="{A42243D2-D217-7F5F-71FB-D3C45A8D2C64}"/>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81067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05E2C8-FC8B-A80A-5039-97143FD3E60F}"/>
              </a:ext>
            </a:extLst>
          </p:cNvPr>
          <p:cNvSpPr txBox="1"/>
          <p:nvPr/>
        </p:nvSpPr>
        <p:spPr>
          <a:xfrm>
            <a:off x="501804" y="299316"/>
            <a:ext cx="7315200" cy="784830"/>
          </a:xfrm>
          <a:prstGeom prst="rect">
            <a:avLst/>
          </a:prstGeom>
          <a:noFill/>
        </p:spPr>
        <p:txBody>
          <a:bodyPr wrap="square">
            <a:spAutoFit/>
          </a:bodyPr>
          <a:lstStyle/>
          <a:p>
            <a:pPr>
              <a:lnSpc>
                <a:spcPts val="5400"/>
              </a:lnSpc>
            </a:pPr>
            <a:r>
              <a:rPr lang="en-US" sz="4800" b="1" dirty="0">
                <a:solidFill>
                  <a:srgbClr val="FF0000"/>
                </a:solidFill>
                <a:latin typeface="Corben" pitchFamily="34" charset="0"/>
                <a:ea typeface="Calibri" panose="020F0502020204030204" pitchFamily="34" charset="0"/>
              </a:rPr>
              <a:t>Dashboard</a:t>
            </a:r>
            <a:endParaRPr lang="en-US" sz="4800" b="1" dirty="0">
              <a:solidFill>
                <a:srgbClr val="FF0000"/>
              </a:solidFill>
              <a:latin typeface="Corben" pitchFamily="34" charset="0"/>
            </a:endParaRPr>
          </a:p>
        </p:txBody>
      </p:sp>
      <p:pic>
        <p:nvPicPr>
          <p:cNvPr id="3" name="Picture 2">
            <a:extLst>
              <a:ext uri="{FF2B5EF4-FFF2-40B4-BE49-F238E27FC236}">
                <a16:creationId xmlns:a16="http://schemas.microsoft.com/office/drawing/2014/main" id="{C3464BB5-0DB2-1AC2-EC9F-EC9B6D326F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448" y="1196880"/>
            <a:ext cx="6977538" cy="6519153"/>
          </a:xfrm>
          <a:prstGeom prst="rect">
            <a:avLst/>
          </a:prstGeom>
        </p:spPr>
      </p:pic>
      <p:sp>
        <p:nvSpPr>
          <p:cNvPr id="5" name="TextBox 4">
            <a:extLst>
              <a:ext uri="{FF2B5EF4-FFF2-40B4-BE49-F238E27FC236}">
                <a16:creationId xmlns:a16="http://schemas.microsoft.com/office/drawing/2014/main" id="{0EE8AC9C-B12A-52F3-CB47-0B8DE637E642}"/>
              </a:ext>
            </a:extLst>
          </p:cNvPr>
          <p:cNvSpPr txBox="1"/>
          <p:nvPr/>
        </p:nvSpPr>
        <p:spPr>
          <a:xfrm>
            <a:off x="7817004" y="1424403"/>
            <a:ext cx="6363000" cy="3781741"/>
          </a:xfrm>
          <a:prstGeom prst="rect">
            <a:avLst/>
          </a:prstGeom>
          <a:noFill/>
        </p:spPr>
        <p:txBody>
          <a:bodyPr wrap="square">
            <a:spAutoFit/>
          </a:bodyPr>
          <a:lstStyle/>
          <a:p>
            <a:pPr algn="just">
              <a:lnSpc>
                <a:spcPct val="150000"/>
              </a:lnSpc>
              <a:buNone/>
            </a:pPr>
            <a:r>
              <a:rPr lang="en-IN" sz="1800" b="1" dirty="0">
                <a:solidFill>
                  <a:srgbClr val="000000"/>
                </a:solidFill>
                <a:effectLst/>
                <a:latin typeface="Times New Roman" panose="02020603050405020304" pitchFamily="18" charset="0"/>
                <a:ea typeface="Arial" panose="020B0604020202020204" pitchFamily="34" charset="0"/>
                <a:cs typeface="Arial MT"/>
              </a:rPr>
              <a:t>Model Comparison Page Explanation :</a:t>
            </a:r>
            <a:endParaRPr lang="en-IN" sz="1400" dirty="0">
              <a:effectLst/>
              <a:latin typeface="Arial MT"/>
              <a:ea typeface="Arial MT"/>
              <a:cs typeface="Arial MT"/>
            </a:endParaRPr>
          </a:p>
          <a:p>
            <a:pPr algn="just">
              <a:lnSpc>
                <a:spcPct val="150000"/>
              </a:lnSpc>
              <a:buNone/>
            </a:pPr>
            <a:r>
              <a:rPr lang="en-IN" sz="1800" dirty="0">
                <a:solidFill>
                  <a:srgbClr val="000000"/>
                </a:solidFill>
                <a:effectLst/>
                <a:latin typeface="Times New Roman" panose="02020603050405020304" pitchFamily="18" charset="0"/>
                <a:ea typeface="Arial" panose="020B0604020202020204" pitchFamily="34" charset="0"/>
                <a:cs typeface="Arial MT"/>
              </a:rPr>
              <a:t>The model comparison page compares the performance of two machine learning models: Random Forest and Linear Regression. Users enter inputs like crop, rainfall, and area, and the system evaluates both models.</a:t>
            </a:r>
            <a:endParaRPr lang="en-IN" sz="1400" dirty="0">
              <a:effectLst/>
              <a:latin typeface="Arial MT"/>
              <a:ea typeface="Arial MT"/>
              <a:cs typeface="Arial MT"/>
            </a:endParaRPr>
          </a:p>
          <a:p>
            <a:pPr algn="just">
              <a:lnSpc>
                <a:spcPct val="150000"/>
              </a:lnSpc>
              <a:buNone/>
            </a:pPr>
            <a:r>
              <a:rPr lang="en-IN" sz="1800" dirty="0">
                <a:solidFill>
                  <a:srgbClr val="000000"/>
                </a:solidFill>
                <a:effectLst/>
                <a:latin typeface="Times New Roman" panose="02020603050405020304" pitchFamily="18" charset="0"/>
                <a:ea typeface="Arial" panose="020B0604020202020204" pitchFamily="34" charset="0"/>
                <a:cs typeface="Arial MT"/>
              </a:rPr>
              <a:t>The comparison is shown using metrics such as Mean Squared Error (MSE) and R² Score, where lower MSE and higher R² indicate better performance. This helps identify which model gives more accurate crop predictions.</a:t>
            </a:r>
            <a:endParaRPr lang="en-IN" sz="1400" dirty="0">
              <a:effectLst/>
              <a:latin typeface="Arial MT"/>
              <a:ea typeface="Arial MT"/>
              <a:cs typeface="Arial MT"/>
            </a:endParaRPr>
          </a:p>
        </p:txBody>
      </p:sp>
      <p:sp>
        <p:nvSpPr>
          <p:cNvPr id="6" name="Rectangle 5">
            <a:extLst>
              <a:ext uri="{FF2B5EF4-FFF2-40B4-BE49-F238E27FC236}">
                <a16:creationId xmlns:a16="http://schemas.microsoft.com/office/drawing/2014/main" id="{F1FFAEE1-26E1-31CF-3AAE-44060C1E2ACA}"/>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35929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3F5EAD-D22B-9FDD-9C85-BECC17D3CD8F}"/>
              </a:ext>
            </a:extLst>
          </p:cNvPr>
          <p:cNvSpPr txBox="1"/>
          <p:nvPr/>
        </p:nvSpPr>
        <p:spPr>
          <a:xfrm>
            <a:off x="501804" y="299316"/>
            <a:ext cx="7315200" cy="784830"/>
          </a:xfrm>
          <a:prstGeom prst="rect">
            <a:avLst/>
          </a:prstGeom>
          <a:noFill/>
        </p:spPr>
        <p:txBody>
          <a:bodyPr wrap="square">
            <a:spAutoFit/>
          </a:bodyPr>
          <a:lstStyle/>
          <a:p>
            <a:pPr>
              <a:lnSpc>
                <a:spcPts val="5400"/>
              </a:lnSpc>
            </a:pPr>
            <a:r>
              <a:rPr lang="en-US" sz="4800" b="1" dirty="0">
                <a:solidFill>
                  <a:srgbClr val="FF0000"/>
                </a:solidFill>
                <a:latin typeface="Corben" pitchFamily="34" charset="0"/>
                <a:ea typeface="Calibri" panose="020F0502020204030204" pitchFamily="34" charset="0"/>
              </a:rPr>
              <a:t>Dashboard</a:t>
            </a:r>
            <a:endParaRPr lang="en-US" sz="4800" b="1" dirty="0">
              <a:solidFill>
                <a:srgbClr val="FF0000"/>
              </a:solidFill>
              <a:latin typeface="Corben" pitchFamily="34" charset="0"/>
            </a:endParaRPr>
          </a:p>
        </p:txBody>
      </p:sp>
      <p:pic>
        <p:nvPicPr>
          <p:cNvPr id="3" name="Picture 2">
            <a:extLst>
              <a:ext uri="{FF2B5EF4-FFF2-40B4-BE49-F238E27FC236}">
                <a16:creationId xmlns:a16="http://schemas.microsoft.com/office/drawing/2014/main" id="{FF1AEC39-B339-428C-04F7-219BD171A2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804" y="1084145"/>
            <a:ext cx="7765374" cy="6569257"/>
          </a:xfrm>
          <a:prstGeom prst="rect">
            <a:avLst/>
          </a:prstGeom>
        </p:spPr>
      </p:pic>
      <p:sp>
        <p:nvSpPr>
          <p:cNvPr id="5" name="TextBox 4">
            <a:extLst>
              <a:ext uri="{FF2B5EF4-FFF2-40B4-BE49-F238E27FC236}">
                <a16:creationId xmlns:a16="http://schemas.microsoft.com/office/drawing/2014/main" id="{44533385-99D4-05CC-5012-15D442D3C2FC}"/>
              </a:ext>
            </a:extLst>
          </p:cNvPr>
          <p:cNvSpPr txBox="1"/>
          <p:nvPr/>
        </p:nvSpPr>
        <p:spPr>
          <a:xfrm>
            <a:off x="8768219" y="1436929"/>
            <a:ext cx="5110619" cy="3781741"/>
          </a:xfrm>
          <a:prstGeom prst="rect">
            <a:avLst/>
          </a:prstGeom>
          <a:noFill/>
        </p:spPr>
        <p:txBody>
          <a:bodyPr wrap="square">
            <a:spAutoFit/>
          </a:bodyPr>
          <a:lstStyle/>
          <a:p>
            <a:pPr>
              <a:lnSpc>
                <a:spcPct val="150000"/>
              </a:lnSpc>
              <a:buNone/>
            </a:pPr>
            <a:r>
              <a:rPr lang="en-IN" sz="1800" b="1" dirty="0">
                <a:solidFill>
                  <a:srgbClr val="000000"/>
                </a:solidFill>
                <a:effectLst/>
                <a:latin typeface="Times New Roman" panose="02020603050405020304" pitchFamily="18" charset="0"/>
                <a:ea typeface="Arial" panose="020B0604020202020204" pitchFamily="34" charset="0"/>
                <a:cs typeface="Arial MT"/>
              </a:rPr>
              <a:t>Future Forecast Page Explanation</a:t>
            </a:r>
            <a:endParaRPr lang="en-IN" sz="1400" dirty="0">
              <a:effectLst/>
              <a:latin typeface="Arial MT"/>
              <a:ea typeface="Arial MT"/>
              <a:cs typeface="Arial MT"/>
            </a:endParaRPr>
          </a:p>
          <a:p>
            <a:pPr algn="just">
              <a:lnSpc>
                <a:spcPct val="150000"/>
              </a:lnSpc>
              <a:buNone/>
            </a:pPr>
            <a:r>
              <a:rPr lang="en-IN" sz="1800" dirty="0">
                <a:solidFill>
                  <a:srgbClr val="000000"/>
                </a:solidFill>
                <a:effectLst/>
                <a:latin typeface="Times New Roman" panose="02020603050405020304" pitchFamily="18" charset="0"/>
                <a:ea typeface="Arial" panose="020B0604020202020204" pitchFamily="34" charset="0"/>
                <a:cs typeface="Arial MT"/>
              </a:rPr>
              <a:t>The future forecast page predicts crop production trends for the next few years based on historical data. Users select crop, state, and number of years, and the system generates future predictions.</a:t>
            </a:r>
            <a:endParaRPr lang="en-IN" sz="1400" dirty="0">
              <a:effectLst/>
              <a:latin typeface="Arial MT"/>
              <a:ea typeface="Arial MT"/>
              <a:cs typeface="Arial MT"/>
            </a:endParaRPr>
          </a:p>
          <a:p>
            <a:pPr algn="just">
              <a:lnSpc>
                <a:spcPct val="150000"/>
              </a:lnSpc>
              <a:buNone/>
            </a:pPr>
            <a:r>
              <a:rPr lang="en-IN" sz="1800" dirty="0">
                <a:solidFill>
                  <a:srgbClr val="000000"/>
                </a:solidFill>
                <a:effectLst/>
                <a:latin typeface="Times New Roman" panose="02020603050405020304" pitchFamily="18" charset="0"/>
                <a:ea typeface="Arial" panose="020B0604020202020204" pitchFamily="34" charset="0"/>
                <a:cs typeface="Arial MT"/>
              </a:rPr>
              <a:t>The results are displayed using a line graph showing past data and future estimates along with confidence intervals. This helps users understand future trends and plan agricultural activities effectively.</a:t>
            </a:r>
            <a:endParaRPr lang="en-IN" sz="1400" dirty="0">
              <a:effectLst/>
              <a:latin typeface="Arial MT"/>
              <a:ea typeface="Arial MT"/>
              <a:cs typeface="Arial MT"/>
            </a:endParaRPr>
          </a:p>
        </p:txBody>
      </p:sp>
      <p:sp>
        <p:nvSpPr>
          <p:cNvPr id="6" name="Rectangle 5">
            <a:extLst>
              <a:ext uri="{FF2B5EF4-FFF2-40B4-BE49-F238E27FC236}">
                <a16:creationId xmlns:a16="http://schemas.microsoft.com/office/drawing/2014/main" id="{0011D456-4C74-5BE9-AF97-F87198070D35}"/>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24096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20B733-89AE-1F65-2317-02B18C6F3727}"/>
              </a:ext>
            </a:extLst>
          </p:cNvPr>
          <p:cNvSpPr txBox="1"/>
          <p:nvPr/>
        </p:nvSpPr>
        <p:spPr>
          <a:xfrm>
            <a:off x="501804" y="299316"/>
            <a:ext cx="7315200" cy="784830"/>
          </a:xfrm>
          <a:prstGeom prst="rect">
            <a:avLst/>
          </a:prstGeom>
          <a:noFill/>
        </p:spPr>
        <p:txBody>
          <a:bodyPr wrap="square">
            <a:spAutoFit/>
          </a:bodyPr>
          <a:lstStyle/>
          <a:p>
            <a:pPr>
              <a:lnSpc>
                <a:spcPts val="5400"/>
              </a:lnSpc>
            </a:pPr>
            <a:r>
              <a:rPr lang="en-US" sz="4800" b="1" dirty="0">
                <a:solidFill>
                  <a:srgbClr val="FF0000"/>
                </a:solidFill>
                <a:latin typeface="Corben" pitchFamily="34" charset="0"/>
                <a:ea typeface="Calibri" panose="020F0502020204030204" pitchFamily="34" charset="0"/>
              </a:rPr>
              <a:t>Dashboard</a:t>
            </a:r>
            <a:endParaRPr lang="en-US" sz="4800" b="1" dirty="0">
              <a:solidFill>
                <a:srgbClr val="FF0000"/>
              </a:solidFill>
              <a:latin typeface="Corben" pitchFamily="34" charset="0"/>
            </a:endParaRPr>
          </a:p>
        </p:txBody>
      </p:sp>
      <p:pic>
        <p:nvPicPr>
          <p:cNvPr id="3" name="Picture 2">
            <a:extLst>
              <a:ext uri="{FF2B5EF4-FFF2-40B4-BE49-F238E27FC236}">
                <a16:creationId xmlns:a16="http://schemas.microsoft.com/office/drawing/2014/main" id="{B088B5D9-164D-3D25-852F-F0525129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803" y="1230629"/>
            <a:ext cx="7427172" cy="6522981"/>
          </a:xfrm>
          <a:prstGeom prst="rect">
            <a:avLst/>
          </a:prstGeom>
        </p:spPr>
      </p:pic>
      <p:sp>
        <p:nvSpPr>
          <p:cNvPr id="5" name="TextBox 4">
            <a:extLst>
              <a:ext uri="{FF2B5EF4-FFF2-40B4-BE49-F238E27FC236}">
                <a16:creationId xmlns:a16="http://schemas.microsoft.com/office/drawing/2014/main" id="{FF6C6717-1372-47FC-F93B-92239235F3E6}"/>
              </a:ext>
            </a:extLst>
          </p:cNvPr>
          <p:cNvSpPr txBox="1"/>
          <p:nvPr/>
        </p:nvSpPr>
        <p:spPr>
          <a:xfrm>
            <a:off x="8504410" y="1705170"/>
            <a:ext cx="5711869" cy="3366243"/>
          </a:xfrm>
          <a:prstGeom prst="rect">
            <a:avLst/>
          </a:prstGeom>
          <a:noFill/>
        </p:spPr>
        <p:txBody>
          <a:bodyPr wrap="square">
            <a:spAutoFit/>
          </a:bodyPr>
          <a:lstStyle/>
          <a:p>
            <a:pPr algn="just">
              <a:lnSpc>
                <a:spcPct val="150000"/>
              </a:lnSpc>
              <a:buNone/>
            </a:pPr>
            <a:r>
              <a:rPr lang="en-IN" sz="1800" b="1" dirty="0">
                <a:solidFill>
                  <a:srgbClr val="000000"/>
                </a:solidFill>
                <a:effectLst/>
                <a:latin typeface="Times New Roman" panose="02020603050405020304" pitchFamily="18" charset="0"/>
                <a:ea typeface="Arial" panose="020B0604020202020204" pitchFamily="34" charset="0"/>
                <a:cs typeface="Arial MT"/>
              </a:rPr>
              <a:t>Analytics Dashboard Explanation</a:t>
            </a:r>
            <a:endParaRPr lang="en-IN" sz="1400" dirty="0">
              <a:effectLst/>
              <a:latin typeface="Arial MT"/>
              <a:ea typeface="Arial MT"/>
              <a:cs typeface="Arial MT"/>
            </a:endParaRPr>
          </a:p>
          <a:p>
            <a:pPr algn="just">
              <a:lnSpc>
                <a:spcPct val="150000"/>
              </a:lnSpc>
              <a:buNone/>
            </a:pPr>
            <a:r>
              <a:rPr lang="en-IN" sz="1800" dirty="0">
                <a:solidFill>
                  <a:srgbClr val="000000"/>
                </a:solidFill>
                <a:effectLst/>
                <a:latin typeface="Times New Roman" panose="02020603050405020304" pitchFamily="18" charset="0"/>
                <a:ea typeface="Arial" panose="020B0604020202020204" pitchFamily="34" charset="0"/>
                <a:cs typeface="Arial MT"/>
              </a:rPr>
              <a:t>The analytics dashboard provides a visual overview of crop production and distribution data. It displays charts such as crop distribution and top crops by production, helping users understand patterns across different crops and regions.</a:t>
            </a:r>
            <a:endParaRPr lang="en-IN" sz="1400" dirty="0">
              <a:effectLst/>
              <a:latin typeface="Arial MT"/>
              <a:ea typeface="Arial MT"/>
              <a:cs typeface="Arial MT"/>
            </a:endParaRPr>
          </a:p>
          <a:p>
            <a:pPr algn="just">
              <a:lnSpc>
                <a:spcPct val="150000"/>
              </a:lnSpc>
              <a:buNone/>
            </a:pPr>
            <a:r>
              <a:rPr lang="en-IN" sz="1800" dirty="0">
                <a:solidFill>
                  <a:srgbClr val="000000"/>
                </a:solidFill>
                <a:effectLst/>
                <a:latin typeface="Times New Roman" panose="02020603050405020304" pitchFamily="18" charset="0"/>
                <a:ea typeface="Arial" panose="020B0604020202020204" pitchFamily="34" charset="0"/>
                <a:cs typeface="Arial MT"/>
              </a:rPr>
              <a:t>It also shows key statistics like total crops, number of states, seasons, and ML models used. This dashboard helps in quick analysis and supports better decision-making.</a:t>
            </a:r>
            <a:endParaRPr lang="en-IN" sz="1400" dirty="0">
              <a:effectLst/>
              <a:latin typeface="Arial MT"/>
              <a:ea typeface="Arial MT"/>
              <a:cs typeface="Arial MT"/>
            </a:endParaRPr>
          </a:p>
        </p:txBody>
      </p:sp>
      <p:sp>
        <p:nvSpPr>
          <p:cNvPr id="6" name="Rectangle 5">
            <a:extLst>
              <a:ext uri="{FF2B5EF4-FFF2-40B4-BE49-F238E27FC236}">
                <a16:creationId xmlns:a16="http://schemas.microsoft.com/office/drawing/2014/main" id="{9D0E39B8-B687-FD96-32D0-1B306CA147A6}"/>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206358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1EAB68-AED7-5324-DC8A-EC6827DB046E}"/>
              </a:ext>
            </a:extLst>
          </p:cNvPr>
          <p:cNvSpPr txBox="1"/>
          <p:nvPr/>
        </p:nvSpPr>
        <p:spPr>
          <a:xfrm>
            <a:off x="928147" y="587934"/>
            <a:ext cx="6724186" cy="8740854"/>
          </a:xfrm>
          <a:prstGeom prst="rect">
            <a:avLst/>
          </a:prstGeom>
          <a:noFill/>
        </p:spPr>
        <p:txBody>
          <a:bodyPr wrap="square">
            <a:spAutoFit/>
          </a:bodyPr>
          <a:lstStyle/>
          <a:p>
            <a:pPr>
              <a:lnSpc>
                <a:spcPct val="150000"/>
              </a:lnSpc>
              <a:buNone/>
            </a:pPr>
            <a:r>
              <a:rPr lang="en-US" sz="2400" b="1" dirty="0">
                <a:solidFill>
                  <a:srgbClr val="0070C0"/>
                </a:solidFill>
                <a:ea typeface="Spline Sans Bold" pitchFamily="34" charset="-122"/>
              </a:rPr>
              <a:t> PREDICTION MODEL</a:t>
            </a:r>
            <a:endParaRPr lang="en-IN" sz="2400" b="1" dirty="0">
              <a:solidFill>
                <a:srgbClr val="0070C0"/>
              </a:solidFill>
              <a:ea typeface="Spline Sans Bold" pitchFamily="34" charset="-122"/>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The system uses a machine learning model (Random Forest) for </a:t>
            </a:r>
          </a:p>
          <a:p>
            <a:pPr lvl="0">
              <a:lnSpc>
                <a:spcPct val="150000"/>
              </a:lnSpc>
              <a:buSzPts val="1000"/>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       prediction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Input features: crop, rainfall, season, area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Model is trained on historical agricultural data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Data is split into training and testing for accuracy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The model learns patterns between climate factors and crop production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Output: predicted crop yield </a:t>
            </a:r>
            <a:endParaRPr lang="en-IN" sz="1400" dirty="0">
              <a:solidFill>
                <a:srgbClr val="000000"/>
              </a:solidFill>
              <a:latin typeface="Arial MT"/>
              <a:ea typeface="Arial" panose="020B0604020202020204" pitchFamily="34" charset="0"/>
              <a:cs typeface="Arial MT"/>
            </a:endParaRPr>
          </a:p>
          <a:p>
            <a:pPr lvl="0">
              <a:lnSpc>
                <a:spcPct val="150000"/>
              </a:lnSpc>
              <a:buSzPts val="1000"/>
              <a:tabLst>
                <a:tab pos="457200" algn="l"/>
              </a:tabLst>
            </a:pPr>
            <a:endParaRPr lang="en-IN" sz="1400" b="1" dirty="0">
              <a:solidFill>
                <a:srgbClr val="000000"/>
              </a:solidFill>
              <a:effectLst/>
              <a:latin typeface="Arial MT"/>
              <a:ea typeface="Arial" panose="020B0604020202020204" pitchFamily="34" charset="0"/>
              <a:cs typeface="Arial MT"/>
            </a:endParaRPr>
          </a:p>
          <a:p>
            <a:pPr lvl="0">
              <a:lnSpc>
                <a:spcPct val="150000"/>
              </a:lnSpc>
              <a:buSzPts val="1000"/>
              <a:tabLst>
                <a:tab pos="457200" algn="l"/>
              </a:tabLst>
            </a:pPr>
            <a:r>
              <a:rPr lang="en-US" sz="2400" b="1" dirty="0">
                <a:solidFill>
                  <a:srgbClr val="0070C0"/>
                </a:solidFill>
                <a:ea typeface="Spline Sans Bold" pitchFamily="34" charset="-122"/>
              </a:rPr>
              <a:t>COMPARATIVE ANALYSIS</a:t>
            </a:r>
            <a:endParaRPr lang="en-IN" sz="2400" b="1" dirty="0">
              <a:solidFill>
                <a:srgbClr val="0070C0"/>
              </a:solidFill>
              <a:ea typeface="Spline Sans Bold" pitchFamily="34" charset="-122"/>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Compares actual vs predicted crop production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Evaluates model performance using accuracy/error metrics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err="1">
                <a:solidFill>
                  <a:srgbClr val="000000"/>
                </a:solidFill>
                <a:effectLst/>
                <a:latin typeface="Times New Roman" panose="02020603050405020304" pitchFamily="18" charset="0"/>
                <a:ea typeface="Arial" panose="020B0604020202020204" pitchFamily="34" charset="0"/>
                <a:cs typeface="Arial MT"/>
              </a:rPr>
              <a:t>Analyzes</a:t>
            </a:r>
            <a:r>
              <a:rPr lang="en-IN" sz="1800" dirty="0">
                <a:solidFill>
                  <a:srgbClr val="000000"/>
                </a:solidFill>
                <a:effectLst/>
                <a:latin typeface="Times New Roman" panose="02020603050405020304" pitchFamily="18" charset="0"/>
                <a:ea typeface="Arial" panose="020B0604020202020204" pitchFamily="34" charset="0"/>
                <a:cs typeface="Arial MT"/>
              </a:rPr>
              <a:t> how different climate factors affect yield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Helps identify which conditions give high or low production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Useful for improving model performance and decision-making</a:t>
            </a:r>
            <a:endParaRPr lang="en-IN" sz="1400" dirty="0">
              <a:solidFill>
                <a:srgbClr val="000000"/>
              </a:solidFill>
              <a:effectLst/>
              <a:latin typeface="Arial MT"/>
              <a:ea typeface="Arial MT"/>
              <a:cs typeface="Arial MT"/>
            </a:endParaRPr>
          </a:p>
          <a:p>
            <a:pPr>
              <a:lnSpc>
                <a:spcPct val="150000"/>
              </a:lnSpc>
              <a:buNone/>
            </a:pPr>
            <a:r>
              <a:rPr lang="en-IN" sz="1800" dirty="0">
                <a:solidFill>
                  <a:srgbClr val="000000"/>
                </a:solidFill>
                <a:effectLst/>
                <a:latin typeface="Times New Roman" panose="02020603050405020304" pitchFamily="18" charset="0"/>
                <a:ea typeface="Arial" panose="020B0604020202020204" pitchFamily="34" charset="0"/>
                <a:cs typeface="Arial MT"/>
              </a:rPr>
              <a:t> </a:t>
            </a:r>
            <a:endParaRPr lang="en-IN" sz="1400" dirty="0">
              <a:effectLst/>
              <a:latin typeface="Arial MT"/>
              <a:ea typeface="Arial MT"/>
              <a:cs typeface="Arial MT"/>
            </a:endParaRPr>
          </a:p>
          <a:p>
            <a:pPr algn="ctr">
              <a:lnSpc>
                <a:spcPct val="150000"/>
              </a:lnSpc>
              <a:buNone/>
            </a:pPr>
            <a:r>
              <a:rPr lang="en-IN" sz="1800" dirty="0">
                <a:solidFill>
                  <a:srgbClr val="000000"/>
                </a:solidFill>
                <a:effectLst/>
                <a:latin typeface="Times New Roman" panose="02020603050405020304" pitchFamily="18" charset="0"/>
                <a:ea typeface="Arial" panose="020B0604020202020204" pitchFamily="34" charset="0"/>
                <a:cs typeface="Arial MT"/>
              </a:rPr>
              <a:t> </a:t>
            </a:r>
            <a:endParaRPr lang="en-IN" sz="1400" dirty="0">
              <a:effectLst/>
              <a:latin typeface="Arial MT"/>
              <a:ea typeface="Arial MT"/>
              <a:cs typeface="Arial MT"/>
            </a:endParaRPr>
          </a:p>
          <a:p>
            <a:pPr algn="ctr">
              <a:buNone/>
            </a:pPr>
            <a:r>
              <a:rPr lang="en-US" sz="3200" b="1" dirty="0">
                <a:solidFill>
                  <a:srgbClr val="000000"/>
                </a:solidFill>
                <a:effectLst/>
                <a:latin typeface="Arial" panose="020B0604020202020204" pitchFamily="34" charset="0"/>
                <a:ea typeface="Arial" panose="020B0604020202020204" pitchFamily="34" charset="0"/>
                <a:cs typeface="Arial MT"/>
              </a:rPr>
              <a:t> </a:t>
            </a:r>
            <a:endParaRPr lang="en-IN" sz="1400" dirty="0">
              <a:effectLst/>
              <a:latin typeface="Arial MT"/>
              <a:ea typeface="Arial MT"/>
              <a:cs typeface="Arial MT"/>
            </a:endParaRPr>
          </a:p>
          <a:p>
            <a:pPr algn="ctr">
              <a:buNone/>
            </a:pPr>
            <a:r>
              <a:rPr lang="en-US" sz="3200" b="1" dirty="0">
                <a:solidFill>
                  <a:srgbClr val="000000"/>
                </a:solidFill>
                <a:effectLst/>
                <a:latin typeface="Arial" panose="020B0604020202020204" pitchFamily="34" charset="0"/>
                <a:ea typeface="Arial" panose="020B0604020202020204" pitchFamily="34" charset="0"/>
                <a:cs typeface="Arial MT"/>
              </a:rPr>
              <a:t> </a:t>
            </a:r>
            <a:endParaRPr lang="en-IN" sz="1400" dirty="0">
              <a:effectLst/>
              <a:latin typeface="Arial MT"/>
              <a:ea typeface="Arial MT"/>
              <a:cs typeface="Arial MT"/>
            </a:endParaRPr>
          </a:p>
        </p:txBody>
      </p:sp>
      <p:sp>
        <p:nvSpPr>
          <p:cNvPr id="4" name="Rectangle 3">
            <a:extLst>
              <a:ext uri="{FF2B5EF4-FFF2-40B4-BE49-F238E27FC236}">
                <a16:creationId xmlns:a16="http://schemas.microsoft.com/office/drawing/2014/main" id="{84332F16-BA84-4DF9-510B-78AEB0B2AD7F}"/>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279571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7341AC-68E0-EC08-FBAD-0029DC10E6D4}"/>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95A7746-B35E-1796-D5D2-A029D0017F65}"/>
              </a:ext>
            </a:extLst>
          </p:cNvPr>
          <p:cNvSpPr txBox="1"/>
          <p:nvPr/>
        </p:nvSpPr>
        <p:spPr>
          <a:xfrm>
            <a:off x="669072" y="1862976"/>
            <a:ext cx="7660889" cy="4889737"/>
          </a:xfrm>
          <a:prstGeom prst="rect">
            <a:avLst/>
          </a:prstGeom>
          <a:noFill/>
        </p:spPr>
        <p:txBody>
          <a:bodyPr wrap="square">
            <a:spAutoFit/>
          </a:bodyPr>
          <a:lstStyle/>
          <a:p>
            <a:pPr algn="ctr">
              <a:buNone/>
            </a:pPr>
            <a:r>
              <a:rPr lang="en-US" sz="1800" b="1" dirty="0">
                <a:solidFill>
                  <a:srgbClr val="000000"/>
                </a:solidFill>
                <a:effectLst/>
                <a:latin typeface="Times New Roman" panose="02020603050405020304" pitchFamily="18" charset="0"/>
                <a:ea typeface="Arial" panose="020B0604020202020204" pitchFamily="34" charset="0"/>
                <a:cs typeface="Arial MT"/>
              </a:rPr>
              <a:t> </a:t>
            </a:r>
            <a:endParaRPr lang="en-IN" sz="1400" dirty="0">
              <a:effectLst/>
              <a:latin typeface="Arial MT"/>
              <a:ea typeface="Arial MT"/>
              <a:cs typeface="Arial MT"/>
            </a:endParaRPr>
          </a:p>
          <a:p>
            <a:pPr>
              <a:lnSpc>
                <a:spcPct val="150000"/>
              </a:lnSpc>
              <a:buNone/>
            </a:pPr>
            <a:r>
              <a:rPr lang="en-IN" sz="1800" b="1" dirty="0">
                <a:solidFill>
                  <a:srgbClr val="000000"/>
                </a:solidFill>
                <a:effectLst/>
                <a:latin typeface="Times New Roman" panose="02020603050405020304" pitchFamily="18" charset="0"/>
                <a:ea typeface="Arial" panose="020B0604020202020204" pitchFamily="34" charset="0"/>
                <a:cs typeface="Arial MT"/>
              </a:rPr>
              <a:t>Advantages </a:t>
            </a:r>
            <a:endParaRPr lang="en-IN" sz="1400" dirty="0">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Provides accurate crop prediction using machine learning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Helps understand the impact of climate change on agriculture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Supports better decision-making for farmers and policymakers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Handles both structured (Excel) and semi-structured (JSON) data </a:t>
            </a:r>
            <a:endParaRPr lang="en-IN" sz="1400" dirty="0">
              <a:solidFill>
                <a:srgbClr val="000000"/>
              </a:solidFill>
              <a:effectLst/>
              <a:latin typeface="Arial MT"/>
              <a:ea typeface="Arial MT"/>
              <a:cs typeface="Arial MT"/>
            </a:endParaRPr>
          </a:p>
          <a:p>
            <a:pPr>
              <a:lnSpc>
                <a:spcPct val="150000"/>
              </a:lnSpc>
              <a:buNone/>
            </a:pPr>
            <a:r>
              <a:rPr lang="en-IN" sz="1800" b="1" dirty="0">
                <a:solidFill>
                  <a:srgbClr val="000000"/>
                </a:solidFill>
                <a:effectLst/>
                <a:latin typeface="Times New Roman" panose="02020603050405020304" pitchFamily="18" charset="0"/>
                <a:ea typeface="Arial" panose="020B0604020202020204" pitchFamily="34" charset="0"/>
                <a:cs typeface="Arial MT"/>
              </a:rPr>
              <a:t>Limitations</a:t>
            </a:r>
            <a:r>
              <a:rPr lang="en-IN" sz="1800" dirty="0">
                <a:solidFill>
                  <a:srgbClr val="000000"/>
                </a:solidFill>
                <a:effectLst/>
                <a:latin typeface="Times New Roman" panose="02020603050405020304" pitchFamily="18" charset="0"/>
                <a:ea typeface="Arial" panose="020B0604020202020204" pitchFamily="34" charset="0"/>
                <a:cs typeface="Arial MT"/>
              </a:rPr>
              <a:t> </a:t>
            </a:r>
            <a:endParaRPr lang="en-IN" sz="1400" dirty="0">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Prediction accuracy depends on quality and size of dataset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Limited to available features (rainfall, season, etc.)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Does not consider all factors like soil type, pests, fertilizers </a:t>
            </a:r>
            <a:endParaRPr lang="en-IN" sz="1400" dirty="0">
              <a:solidFill>
                <a:srgbClr val="000000"/>
              </a:solidFill>
              <a:effectLst/>
              <a:latin typeface="Arial MT"/>
              <a:ea typeface="Arial MT"/>
              <a:cs typeface="Arial MT"/>
            </a:endParaRPr>
          </a:p>
          <a:p>
            <a:pPr marL="342900" lvl="0" indent="-342900">
              <a:lnSpc>
                <a:spcPct val="150000"/>
              </a:lnSpc>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Arial" panose="020B0604020202020204" pitchFamily="34" charset="0"/>
                <a:cs typeface="Arial MT"/>
              </a:rPr>
              <a:t>Requires internet and technical setup for use </a:t>
            </a:r>
            <a:endParaRPr lang="en-IN" sz="1400" dirty="0">
              <a:solidFill>
                <a:srgbClr val="000000"/>
              </a:solidFill>
              <a:effectLst/>
              <a:latin typeface="Arial MT"/>
              <a:ea typeface="Arial MT"/>
              <a:cs typeface="Arial MT"/>
            </a:endParaRPr>
          </a:p>
          <a:p>
            <a:pPr marL="228600" algn="ctr">
              <a:lnSpc>
                <a:spcPct val="150000"/>
              </a:lnSpc>
              <a:buNone/>
            </a:pPr>
            <a:r>
              <a:rPr lang="en-US" sz="1800" b="1" dirty="0">
                <a:solidFill>
                  <a:srgbClr val="000000"/>
                </a:solidFill>
                <a:effectLst/>
                <a:latin typeface="Times New Roman" panose="02020603050405020304" pitchFamily="18" charset="0"/>
                <a:ea typeface="Arial" panose="020B0604020202020204" pitchFamily="34" charset="0"/>
                <a:cs typeface="Arial MT"/>
              </a:rPr>
              <a:t> </a:t>
            </a:r>
            <a:endParaRPr lang="en-IN" sz="1400" dirty="0">
              <a:effectLst/>
              <a:latin typeface="Arial MT"/>
              <a:ea typeface="Arial MT"/>
              <a:cs typeface="Arial MT"/>
            </a:endParaRPr>
          </a:p>
        </p:txBody>
      </p:sp>
      <p:sp>
        <p:nvSpPr>
          <p:cNvPr id="6" name="TextBox 5">
            <a:extLst>
              <a:ext uri="{FF2B5EF4-FFF2-40B4-BE49-F238E27FC236}">
                <a16:creationId xmlns:a16="http://schemas.microsoft.com/office/drawing/2014/main" id="{835E7B7C-7C2D-F738-5157-8BBE92266ADD}"/>
              </a:ext>
            </a:extLst>
          </p:cNvPr>
          <p:cNvSpPr txBox="1"/>
          <p:nvPr/>
        </p:nvSpPr>
        <p:spPr>
          <a:xfrm>
            <a:off x="-669075" y="1031979"/>
            <a:ext cx="10604811" cy="830997"/>
          </a:xfrm>
          <a:prstGeom prst="rect">
            <a:avLst/>
          </a:prstGeom>
          <a:noFill/>
        </p:spPr>
        <p:txBody>
          <a:bodyPr wrap="square">
            <a:spAutoFit/>
          </a:bodyPr>
          <a:lstStyle/>
          <a:p>
            <a:pPr lvl="0" algn="ctr">
              <a:spcBef>
                <a:spcPts val="160"/>
              </a:spcBef>
            </a:pPr>
            <a:r>
              <a:rPr lang="en-US" sz="4800" b="1" dirty="0">
                <a:solidFill>
                  <a:srgbClr val="FF0000"/>
                </a:solidFill>
                <a:ea typeface="Calibri" panose="020F0502020204030204" pitchFamily="34" charset="0"/>
              </a:rPr>
              <a:t>ADVANTAGES AND LIMITATIONS</a:t>
            </a:r>
            <a:endParaRPr lang="en-IN" sz="4800" b="1" dirty="0">
              <a:solidFill>
                <a:srgbClr val="FF0000"/>
              </a:solidFill>
              <a:ea typeface="Calibri" panose="020F0502020204030204" pitchFamily="34" charset="0"/>
            </a:endParaRPr>
          </a:p>
        </p:txBody>
      </p:sp>
    </p:spTree>
    <p:extLst>
      <p:ext uri="{BB962C8B-B14F-4D97-AF65-F5344CB8AC3E}">
        <p14:creationId xmlns:p14="http://schemas.microsoft.com/office/powerpoint/2010/main" val="976558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8" name="Text 0">
            <a:extLst>
              <a:ext uri="{FF2B5EF4-FFF2-40B4-BE49-F238E27FC236}">
                <a16:creationId xmlns:a16="http://schemas.microsoft.com/office/drawing/2014/main" id="{08E78294-1A44-286C-59AB-B857D0F8C628}"/>
              </a:ext>
            </a:extLst>
          </p:cNvPr>
          <p:cNvSpPr/>
          <p:nvPr/>
        </p:nvSpPr>
        <p:spPr>
          <a:xfrm>
            <a:off x="802958" y="741484"/>
            <a:ext cx="7414736" cy="637223"/>
          </a:xfrm>
          <a:prstGeom prst="rect">
            <a:avLst/>
          </a:prstGeom>
          <a:noFill/>
          <a:ln/>
        </p:spPr>
        <p:txBody>
          <a:bodyPr wrap="none" lIns="0" tIns="0" rIns="0" bIns="0" rtlCol="0" anchor="t"/>
          <a:lstStyle/>
          <a:p>
            <a:pPr marL="0" indent="0" algn="l">
              <a:lnSpc>
                <a:spcPts val="5000"/>
              </a:lnSpc>
              <a:buNone/>
            </a:pPr>
            <a:r>
              <a:rPr lang="en-US" sz="4000" b="1" dirty="0">
                <a:solidFill>
                  <a:srgbClr val="FF0000"/>
                </a:solidFill>
                <a:latin typeface="Corben" pitchFamily="34" charset="0"/>
              </a:rPr>
              <a:t>Conclusion &amp; Future Directions</a:t>
            </a:r>
          </a:p>
        </p:txBody>
      </p:sp>
      <p:sp>
        <p:nvSpPr>
          <p:cNvPr id="9" name="Text 1">
            <a:extLst>
              <a:ext uri="{FF2B5EF4-FFF2-40B4-BE49-F238E27FC236}">
                <a16:creationId xmlns:a16="http://schemas.microsoft.com/office/drawing/2014/main" id="{1739084B-5011-9628-7142-7BA903301C05}"/>
              </a:ext>
            </a:extLst>
          </p:cNvPr>
          <p:cNvSpPr/>
          <p:nvPr/>
        </p:nvSpPr>
        <p:spPr>
          <a:xfrm>
            <a:off x="802958" y="1786018"/>
            <a:ext cx="3059073" cy="382310"/>
          </a:xfrm>
          <a:prstGeom prst="rect">
            <a:avLst/>
          </a:prstGeom>
          <a:noFill/>
          <a:ln/>
        </p:spPr>
        <p:txBody>
          <a:bodyPr wrap="none" lIns="0" tIns="0" rIns="0" bIns="0" rtlCol="0" anchor="t"/>
          <a:lstStyle/>
          <a:p>
            <a:pPr marL="0" indent="0" algn="l">
              <a:lnSpc>
                <a:spcPts val="3000"/>
              </a:lnSpc>
              <a:buNone/>
            </a:pPr>
            <a:r>
              <a:rPr lang="en-IN" sz="2400" b="1" dirty="0">
                <a:solidFill>
                  <a:srgbClr val="0070C0"/>
                </a:solidFill>
                <a:ea typeface="Spline Sans Bold" pitchFamily="34" charset="-122"/>
              </a:rPr>
              <a:t>Conclusion </a:t>
            </a:r>
            <a:endParaRPr lang="en-US" sz="2400" b="1" dirty="0">
              <a:solidFill>
                <a:srgbClr val="0070C0"/>
              </a:solidFill>
              <a:ea typeface="Spline Sans Bold" pitchFamily="34" charset="-122"/>
            </a:endParaRPr>
          </a:p>
        </p:txBody>
      </p:sp>
      <p:sp>
        <p:nvSpPr>
          <p:cNvPr id="10" name="Text 3">
            <a:extLst>
              <a:ext uri="{FF2B5EF4-FFF2-40B4-BE49-F238E27FC236}">
                <a16:creationId xmlns:a16="http://schemas.microsoft.com/office/drawing/2014/main" id="{D7BAA42E-F797-EE83-900C-090E649908F9}"/>
              </a:ext>
            </a:extLst>
          </p:cNvPr>
          <p:cNvSpPr/>
          <p:nvPr/>
        </p:nvSpPr>
        <p:spPr>
          <a:xfrm>
            <a:off x="802958" y="4927773"/>
            <a:ext cx="3140631" cy="382310"/>
          </a:xfrm>
          <a:prstGeom prst="rect">
            <a:avLst/>
          </a:prstGeom>
          <a:noFill/>
          <a:ln/>
        </p:spPr>
        <p:txBody>
          <a:bodyPr wrap="none" lIns="0" tIns="0" rIns="0" bIns="0" rtlCol="0" anchor="t"/>
          <a:lstStyle/>
          <a:p>
            <a:pPr>
              <a:lnSpc>
                <a:spcPts val="3000"/>
              </a:lnSpc>
            </a:pPr>
            <a:r>
              <a:rPr lang="en-US" sz="2400" b="1" dirty="0">
                <a:solidFill>
                  <a:srgbClr val="0070C0"/>
                </a:solidFill>
                <a:ea typeface="Spline Sans Bold" pitchFamily="34" charset="-122"/>
              </a:rPr>
              <a:t>Future Enhancements</a:t>
            </a:r>
          </a:p>
        </p:txBody>
      </p:sp>
      <p:sp>
        <p:nvSpPr>
          <p:cNvPr id="11" name="Text 4">
            <a:extLst>
              <a:ext uri="{FF2B5EF4-FFF2-40B4-BE49-F238E27FC236}">
                <a16:creationId xmlns:a16="http://schemas.microsoft.com/office/drawing/2014/main" id="{72043943-6FDC-90C7-8D0D-E927DC0BF375}"/>
              </a:ext>
            </a:extLst>
          </p:cNvPr>
          <p:cNvSpPr/>
          <p:nvPr/>
        </p:nvSpPr>
        <p:spPr>
          <a:xfrm>
            <a:off x="802958" y="5575093"/>
            <a:ext cx="8269962" cy="1062377"/>
          </a:xfrm>
          <a:prstGeom prst="rect">
            <a:avLst/>
          </a:prstGeom>
          <a:noFill/>
          <a:ln/>
        </p:spPr>
        <p:txBody>
          <a:bodyPr wrap="square" lIns="0" tIns="0" rIns="0" bIns="0" rtlCol="0" anchor="t"/>
          <a:lstStyle/>
          <a:p>
            <a:pPr marL="285750" indent="-285750" algn="l">
              <a:lnSpc>
                <a:spcPct val="150000"/>
              </a:lnSpc>
              <a:buSzPct val="100000"/>
              <a:buFont typeface="Arial" panose="020B0604020202020204" pitchFamily="34" charset="0"/>
              <a:buChar char="•"/>
            </a:pPr>
            <a:r>
              <a:rPr lang="en-US" sz="1800" dirty="0">
                <a:latin typeface="Barlow" pitchFamily="34" charset="0"/>
                <a:ea typeface="Barlow" pitchFamily="34" charset="-122"/>
                <a:cs typeface="Barlow" pitchFamily="34" charset="-120"/>
              </a:rPr>
              <a:t>Machine learning yield prediction models</a:t>
            </a:r>
            <a:endParaRPr lang="en-US" sz="1800" dirty="0"/>
          </a:p>
          <a:p>
            <a:pPr marL="285750" indent="-285750" algn="l">
              <a:lnSpc>
                <a:spcPct val="150000"/>
              </a:lnSpc>
              <a:buSzPct val="100000"/>
              <a:buFont typeface="Arial" panose="020B0604020202020204" pitchFamily="34" charset="0"/>
              <a:buChar char="•"/>
            </a:pPr>
            <a:r>
              <a:rPr lang="en-US" sz="1800" dirty="0">
                <a:latin typeface="Barlow" pitchFamily="34" charset="0"/>
                <a:ea typeface="Barlow" pitchFamily="34" charset="-122"/>
                <a:cs typeface="Barlow" pitchFamily="34" charset="-120"/>
              </a:rPr>
              <a:t>Real-time IoT weather sensor integration</a:t>
            </a:r>
            <a:endParaRPr lang="en-US" sz="1800" dirty="0"/>
          </a:p>
          <a:p>
            <a:pPr marL="285750" indent="-285750" algn="l">
              <a:lnSpc>
                <a:spcPct val="150000"/>
              </a:lnSpc>
              <a:buSzPct val="100000"/>
              <a:buFont typeface="Arial" panose="020B0604020202020204" pitchFamily="34" charset="0"/>
              <a:buChar char="•"/>
            </a:pPr>
            <a:r>
              <a:rPr lang="en-US" sz="1800" dirty="0">
                <a:latin typeface="Barlow" pitchFamily="34" charset="0"/>
                <a:ea typeface="Barlow" pitchFamily="34" charset="-122"/>
                <a:cs typeface="Barlow" pitchFamily="34" charset="-120"/>
              </a:rPr>
              <a:t>Mobile advisory platform for farmers</a:t>
            </a:r>
            <a:endParaRPr lang="en-US" sz="1800" dirty="0"/>
          </a:p>
        </p:txBody>
      </p:sp>
      <p:pic>
        <p:nvPicPr>
          <p:cNvPr id="12" name="Image 0" descr="preencoded.png">
            <a:extLst>
              <a:ext uri="{FF2B5EF4-FFF2-40B4-BE49-F238E27FC236}">
                <a16:creationId xmlns:a16="http://schemas.microsoft.com/office/drawing/2014/main" id="{6804F4D7-CFC2-2507-4778-0FDAA188F460}"/>
              </a:ext>
            </a:extLst>
          </p:cNvPr>
          <p:cNvPicPr>
            <a:picLocks noChangeAspect="1"/>
          </p:cNvPicPr>
          <p:nvPr/>
        </p:nvPicPr>
        <p:blipFill>
          <a:blip r:embed="rId3"/>
          <a:stretch>
            <a:fillRect/>
          </a:stretch>
        </p:blipFill>
        <p:spPr>
          <a:xfrm>
            <a:off x="8820616" y="0"/>
            <a:ext cx="5809784" cy="8229600"/>
          </a:xfrm>
          <a:prstGeom prst="rect">
            <a:avLst/>
          </a:prstGeom>
        </p:spPr>
      </p:pic>
      <p:sp>
        <p:nvSpPr>
          <p:cNvPr id="13" name="TextBox 12">
            <a:extLst>
              <a:ext uri="{FF2B5EF4-FFF2-40B4-BE49-F238E27FC236}">
                <a16:creationId xmlns:a16="http://schemas.microsoft.com/office/drawing/2014/main" id="{E97E2114-3134-AA15-2966-14CFE753D397}"/>
              </a:ext>
            </a:extLst>
          </p:cNvPr>
          <p:cNvSpPr txBox="1"/>
          <p:nvPr/>
        </p:nvSpPr>
        <p:spPr>
          <a:xfrm>
            <a:off x="680294" y="2390231"/>
            <a:ext cx="7315200" cy="2123787"/>
          </a:xfrm>
          <a:prstGeom prst="rect">
            <a:avLst/>
          </a:prstGeom>
          <a:noFill/>
        </p:spPr>
        <p:txBody>
          <a:bodyPr wrap="square">
            <a:spAutoFit/>
          </a:bodyPr>
          <a:lstStyle/>
          <a:p>
            <a:pPr algn="just">
              <a:lnSpc>
                <a:spcPct val="150000"/>
              </a:lnSpc>
            </a:pPr>
            <a:r>
              <a:rPr lang="en-US" dirty="0">
                <a:latin typeface="Barlow" pitchFamily="34" charset="0"/>
              </a:rPr>
              <a:t>This project shows that climate change has a clear impact on crop yield.  and rainfall play an important role in crop production, and data analysis helps in understanding these effects clearly. The results highlight how data analytics can support better planning and decision making in </a:t>
            </a:r>
            <a:r>
              <a:rPr lang="en-US" dirty="0"/>
              <a:t>agriculture.</a:t>
            </a:r>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D9174D-A62C-FFF3-EE37-F3F9B1507863}"/>
              </a:ext>
            </a:extLst>
          </p:cNvPr>
          <p:cNvSpPr/>
          <p:nvPr/>
        </p:nvSpPr>
        <p:spPr>
          <a:xfrm>
            <a:off x="12857352" y="7750098"/>
            <a:ext cx="1661536" cy="38908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E45580C-4042-EE87-40A1-4FFCB4EE12D3}"/>
              </a:ext>
            </a:extLst>
          </p:cNvPr>
          <p:cNvSpPr txBox="1"/>
          <p:nvPr/>
        </p:nvSpPr>
        <p:spPr>
          <a:xfrm>
            <a:off x="1538866" y="2475571"/>
            <a:ext cx="12149254" cy="2646878"/>
          </a:xfrm>
          <a:prstGeom prst="rect">
            <a:avLst/>
          </a:prstGeom>
          <a:noFill/>
        </p:spPr>
        <p:txBody>
          <a:bodyPr wrap="square" rtlCol="0">
            <a:spAutoFit/>
          </a:bodyPr>
          <a:lstStyle/>
          <a:p>
            <a:r>
              <a:rPr lang="en-IN" sz="16600" dirty="0">
                <a:solidFill>
                  <a:srgbClr val="002060"/>
                </a:solidFill>
                <a:latin typeface="Algerian" panose="04020705040A02060702" pitchFamily="82" charset="0"/>
              </a:rPr>
              <a:t>THANK YOU</a:t>
            </a:r>
          </a:p>
        </p:txBody>
      </p:sp>
      <p:pic>
        <p:nvPicPr>
          <p:cNvPr id="5" name="Graphic 4" descr="Leaf with solid fill">
            <a:extLst>
              <a:ext uri="{FF2B5EF4-FFF2-40B4-BE49-F238E27FC236}">
                <a16:creationId xmlns:a16="http://schemas.microsoft.com/office/drawing/2014/main" id="{1B4C7D4F-5300-477A-852A-3BC5D8BE18B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773720" y="3799010"/>
            <a:ext cx="914400" cy="914400"/>
          </a:xfrm>
          <a:prstGeom prst="rect">
            <a:avLst/>
          </a:prstGeom>
        </p:spPr>
      </p:pic>
    </p:spTree>
    <p:extLst>
      <p:ext uri="{BB962C8B-B14F-4D97-AF65-F5344CB8AC3E}">
        <p14:creationId xmlns:p14="http://schemas.microsoft.com/office/powerpoint/2010/main" val="1464707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287</TotalTime>
  <Words>1669</Words>
  <Application>Microsoft Office PowerPoint</Application>
  <PresentationFormat>Custom</PresentationFormat>
  <Paragraphs>232</Paragraphs>
  <Slides>25</Slides>
  <Notes>7</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25</vt:i4>
      </vt:variant>
    </vt:vector>
  </HeadingPairs>
  <TitlesOfParts>
    <vt:vector size="40" baseType="lpstr">
      <vt:lpstr>Algerian</vt:lpstr>
      <vt:lpstr>Arial</vt:lpstr>
      <vt:lpstr>Arial MT</vt:lpstr>
      <vt:lpstr>Barlow</vt:lpstr>
      <vt:lpstr>Calibri</vt:lpstr>
      <vt:lpstr>Cambria</vt:lpstr>
      <vt:lpstr>Copperplate Gothic Bold</vt:lpstr>
      <vt:lpstr>Corben</vt:lpstr>
      <vt:lpstr>Georgia</vt:lpstr>
      <vt:lpstr>Nobile</vt:lpstr>
      <vt:lpstr>Sitka Small</vt:lpstr>
      <vt:lpstr>Spline Sans Bold</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Aditi Avhad</cp:lastModifiedBy>
  <cp:revision>15</cp:revision>
  <dcterms:created xsi:type="dcterms:W3CDTF">2026-02-11T18:57:37Z</dcterms:created>
  <dcterms:modified xsi:type="dcterms:W3CDTF">2026-04-17T08:06:53Z</dcterms:modified>
</cp:coreProperties>
</file>